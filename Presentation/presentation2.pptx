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20"/>
            <a:ext cx="9144000" cy="5124659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3" name="Text 1"/>
          <p:cNvSpPr/>
          <p:nvPr/>
        </p:nvSpPr>
        <p:spPr>
          <a:xfrm>
            <a:off x="251209" y="197827"/>
            <a:ext cx="8641582" cy="314011"/>
          </a:xfrm>
          <a:prstGeom prst="roundRect">
            <a:avLst>
              <a:gd name="adj" fmla="val 16000"/>
            </a:avLst>
          </a:prstGeom>
          <a:solidFill>
            <a:srgbClr val="7B6FA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spc="4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캡스톤디자인(1) 2차 발표</a:t>
            </a:r>
            <a:endParaRPr lang="en-US" sz="890" dirty="0"/>
          </a:p>
        </p:txBody>
      </p:sp>
      <p:sp>
        <p:nvSpPr>
          <p:cNvPr id="4" name="Text 2"/>
          <p:cNvSpPr/>
          <p:nvPr/>
        </p:nvSpPr>
        <p:spPr>
          <a:xfrm>
            <a:off x="0" y="1264836"/>
            <a:ext cx="9144000" cy="4584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3600"/>
              </a:lnSpc>
              <a:spcBef>
                <a:spcPts val="9890"/>
              </a:spcBef>
              <a:buNone/>
            </a:pPr>
            <a:r>
              <a:rPr lang="en-US" sz="257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Archery 아키텍처</a:t>
            </a:r>
            <a:endParaRPr lang="en-US" sz="2570" dirty="0"/>
          </a:p>
        </p:txBody>
      </p:sp>
      <p:sp>
        <p:nvSpPr>
          <p:cNvPr id="5" name="Text 3"/>
          <p:cNvSpPr/>
          <p:nvPr/>
        </p:nvSpPr>
        <p:spPr>
          <a:xfrm>
            <a:off x="0" y="1722036"/>
            <a:ext cx="9144000" cy="4584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57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· Enemy · Addressable</a:t>
            </a:r>
            <a:endParaRPr lang="en-US" sz="2570" dirty="0"/>
          </a:p>
        </p:txBody>
      </p:sp>
      <p:sp>
        <p:nvSpPr>
          <p:cNvPr id="6" name="Text 4"/>
          <p:cNvSpPr/>
          <p:nvPr/>
        </p:nvSpPr>
        <p:spPr>
          <a:xfrm>
            <a:off x="0" y="2368271"/>
            <a:ext cx="9144000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spcBef>
                <a:spcPts val="1484"/>
              </a:spcBef>
              <a:buNone/>
            </a:pPr>
            <a:r>
              <a:rPr lang="en-US" sz="1090" b="1" dirty="0">
                <a:solidFill>
                  <a:srgbClr val="7B6F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🏹 23101177 컴퓨터공학과 박재홍</a:t>
            </a:r>
            <a:endParaRPr lang="en-US" sz="10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20"/>
            <a:ext cx="9144000" cy="5124659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3" name="Text 1"/>
          <p:cNvSpPr/>
          <p:nvPr/>
        </p:nvSpPr>
        <p:spPr>
          <a:xfrm>
            <a:off x="251209" y="197827"/>
            <a:ext cx="8641582" cy="314011"/>
          </a:xfrm>
          <a:prstGeom prst="roundRect">
            <a:avLst>
              <a:gd name="adj" fmla="val 16000"/>
            </a:avLst>
          </a:prstGeom>
          <a:solidFill>
            <a:srgbClr val="7B6FA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spc="4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캡스톤디자인(1) 2차 발표</a:t>
            </a:r>
            <a:endParaRPr lang="en-US" sz="890" dirty="0"/>
          </a:p>
        </p:txBody>
      </p:sp>
      <p:sp>
        <p:nvSpPr>
          <p:cNvPr id="4" name="Text 2"/>
          <p:cNvSpPr/>
          <p:nvPr/>
        </p:nvSpPr>
        <p:spPr>
          <a:xfrm>
            <a:off x="4352192" y="889279"/>
            <a:ext cx="439615" cy="3454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spcAft>
                <a:spcPts val="1187"/>
              </a:spcAft>
              <a:buNone/>
            </a:pPr>
            <a:r>
              <a:rPr lang="en-US" sz="188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2405324" y="1387301"/>
            <a:ext cx="4333352" cy="3353637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91558" y="1708848"/>
            <a:ext cx="3560885" cy="23864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385"/>
              </a:spcAft>
              <a:buNone/>
            </a:pPr>
            <a:r>
              <a:rPr lang="en-US" sz="12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1차 발표 회고 — 이번 발표의 주제</a:t>
            </a:r>
            <a:endParaRPr lang="en-US" sz="1290" dirty="0"/>
          </a:p>
        </p:txBody>
      </p:sp>
      <p:sp>
        <p:nvSpPr>
          <p:cNvPr id="7" name="Text 5"/>
          <p:cNvSpPr/>
          <p:nvPr/>
        </p:nvSpPr>
        <p:spPr>
          <a:xfrm>
            <a:off x="2791558" y="2120830"/>
            <a:ext cx="3560885" cy="23864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385"/>
              </a:spcAft>
              <a:buNone/>
            </a:pPr>
            <a:r>
              <a:rPr lang="en-US" sz="12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전체 아키텍처 개요 (계층 구조)</a:t>
            </a:r>
            <a:endParaRPr lang="en-US" sz="1290" dirty="0"/>
          </a:p>
        </p:txBody>
      </p:sp>
      <p:sp>
        <p:nvSpPr>
          <p:cNvPr id="8" name="Text 6"/>
          <p:cNvSpPr/>
          <p:nvPr/>
        </p:nvSpPr>
        <p:spPr>
          <a:xfrm>
            <a:off x="2791558" y="2532813"/>
            <a:ext cx="3560885" cy="23864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385"/>
              </a:spcAft>
              <a:buNone/>
            </a:pPr>
            <a:r>
              <a:rPr lang="en-US" sz="12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Addressable Assets — 라벨 기반 로드</a:t>
            </a:r>
            <a:endParaRPr lang="en-US" sz="1290" dirty="0"/>
          </a:p>
        </p:txBody>
      </p:sp>
      <p:sp>
        <p:nvSpPr>
          <p:cNvPr id="9" name="Text 7"/>
          <p:cNvSpPr/>
          <p:nvPr/>
        </p:nvSpPr>
        <p:spPr>
          <a:xfrm>
            <a:off x="2791558" y="2944795"/>
            <a:ext cx="3560885" cy="23864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385"/>
              </a:spcAft>
              <a:buNone/>
            </a:pPr>
            <a:r>
              <a:rPr lang="en-US" sz="12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Map System — JSON + SO 결합</a:t>
            </a:r>
            <a:endParaRPr lang="en-US" sz="1290" dirty="0"/>
          </a:p>
        </p:txBody>
      </p:sp>
      <p:sp>
        <p:nvSpPr>
          <p:cNvPr id="10" name="Text 8"/>
          <p:cNvSpPr/>
          <p:nvPr/>
        </p:nvSpPr>
        <p:spPr>
          <a:xfrm>
            <a:off x="2791558" y="3356778"/>
            <a:ext cx="3560885" cy="23864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385"/>
              </a:spcAft>
              <a:buNone/>
            </a:pPr>
            <a:r>
              <a:rPr lang="en-US" sz="12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Enemy System — 비트 플래그 모듈화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2791558" y="3768760"/>
            <a:ext cx="3560885" cy="23864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385"/>
              </a:spcAft>
              <a:buNone/>
            </a:pPr>
            <a:r>
              <a:rPr lang="en-US" sz="12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Enemy FSM — State 패턴 + EnemyBrain SO</a:t>
            </a:r>
            <a:endParaRPr lang="en-US" sz="1290" dirty="0"/>
          </a:p>
        </p:txBody>
      </p:sp>
      <p:sp>
        <p:nvSpPr>
          <p:cNvPr id="12" name="Text 10"/>
          <p:cNvSpPr/>
          <p:nvPr/>
        </p:nvSpPr>
        <p:spPr>
          <a:xfrm>
            <a:off x="2791558" y="4180742"/>
            <a:ext cx="3560885" cy="23864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 정리 및 향후 계획</a:t>
            </a:r>
            <a:endParaRPr lang="en-US" sz="12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20"/>
            <a:ext cx="9144000" cy="5124659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3" name="Text 1"/>
          <p:cNvSpPr/>
          <p:nvPr/>
        </p:nvSpPr>
        <p:spPr>
          <a:xfrm>
            <a:off x="251209" y="197827"/>
            <a:ext cx="8641582" cy="314011"/>
          </a:xfrm>
          <a:prstGeom prst="roundRect">
            <a:avLst>
              <a:gd name="adj" fmla="val 16000"/>
            </a:avLst>
          </a:prstGeom>
          <a:solidFill>
            <a:srgbClr val="7B6FA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spc="4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캡스톤디자인(1) 2차 발표</a:t>
            </a:r>
            <a:endParaRPr lang="en-US" sz="890" dirty="0"/>
          </a:p>
        </p:txBody>
      </p:sp>
      <p:sp>
        <p:nvSpPr>
          <p:cNvPr id="4" name="Text 2"/>
          <p:cNvSpPr/>
          <p:nvPr/>
        </p:nvSpPr>
        <p:spPr>
          <a:xfrm>
            <a:off x="376813" y="638070"/>
            <a:ext cx="8390374" cy="3454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187"/>
              </a:spcAft>
              <a:buNone/>
            </a:pPr>
            <a:r>
              <a:rPr lang="en-US" sz="188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발표 회고 — 이번 발표의 주제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376813" y="1134836"/>
            <a:ext cx="4082143" cy="3516923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2080" y="1295610"/>
            <a:ext cx="3711610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1차 발표에서 다룬 내용</a:t>
            </a:r>
            <a:endParaRPr lang="en-US" sz="1090" dirty="0"/>
          </a:p>
        </p:txBody>
      </p:sp>
      <p:sp>
        <p:nvSpPr>
          <p:cNvPr id="7" name="Text 5"/>
          <p:cNvSpPr/>
          <p:nvPr/>
        </p:nvSpPr>
        <p:spPr>
          <a:xfrm>
            <a:off x="562080" y="1571311"/>
            <a:ext cx="3711610" cy="36425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429"/>
              </a:lnSpc>
              <a:buNone/>
            </a:pPr>
            <a:r>
              <a:rPr lang="en-US" sz="84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콘셉트</a:t>
            </a:r>
            <a:pPr algn="l" indent="0" marL="0">
              <a:lnSpc>
                <a:spcPts val="1429"/>
              </a:lnSpc>
              <a:spcAft>
                <a:spcPts val="593"/>
              </a:spcAft>
              <a:buNone/>
            </a:pPr>
            <a:r>
              <a:rPr lang="en-US" sz="8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「궁수의 전설 2」 모티브의</a:t>
            </a:r>
            <a:pPr algn="l" indent="0" marL="0">
              <a:buNone/>
            </a:pPr>
            <a:endParaRPr lang="en-US" sz="840" dirty="0"/>
          </a:p>
          <a:p>
            <a:pPr algn="l" indent="0" marL="0">
              <a:lnSpc>
                <a:spcPts val="1429"/>
              </a:lnSpc>
              <a:spcAft>
                <a:spcPts val="593"/>
              </a:spcAft>
              <a:buNone/>
            </a:pPr>
            <a:r>
              <a:rPr lang="en-US" sz="8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캐주얼 로그라이크 — </a:t>
            </a:r>
            <a:pPr algn="l" indent="0" marL="0">
              <a:lnSpc>
                <a:spcPts val="1429"/>
              </a:lnSpc>
              <a:buNone/>
            </a:pPr>
            <a:r>
              <a:rPr lang="en-US" sz="84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/ 자동전투 / 레벨업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562080" y="2009670"/>
            <a:ext cx="3711610" cy="36425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429"/>
              </a:lnSpc>
              <a:buNone/>
            </a:pPr>
            <a:r>
              <a:rPr lang="en-US" sz="84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목표</a:t>
            </a:r>
            <a:pPr algn="l" indent="0" marL="0">
              <a:lnSpc>
                <a:spcPts val="1429"/>
              </a:lnSpc>
              <a:spcAft>
                <a:spcPts val="593"/>
              </a:spcAft>
              <a:buNone/>
            </a:pPr>
            <a:r>
              <a:rPr lang="en-US" sz="8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pPr algn="l" indent="0" marL="0">
              <a:lnSpc>
                <a:spcPts val="1429"/>
              </a:lnSpc>
              <a:buNone/>
            </a:pPr>
            <a:r>
              <a:rPr lang="en-US" sz="840" b="1" dirty="0">
                <a:solidFill>
                  <a:srgbClr val="E74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SerializeField 직접 바인딩</a:t>
            </a:r>
            <a:pPr algn="l" indent="0" marL="0">
              <a:lnSpc>
                <a:spcPts val="1429"/>
              </a:lnSpc>
              <a:spcAft>
                <a:spcPts val="593"/>
              </a:spcAft>
              <a:buNone/>
            </a:pPr>
            <a:r>
              <a:rPr lang="en-US" sz="8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한계 → </a:t>
            </a:r>
            <a:pPr algn="l" indent="0" marL="0">
              <a:lnSpc>
                <a:spcPts val="1429"/>
              </a:lnSpc>
              <a:buNone/>
            </a:pPr>
            <a:r>
              <a:rPr lang="en-US" sz="84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Addressable Assets</a:t>
            </a:r>
            <a:pPr algn="l" indent="0" marL="0">
              <a:lnSpc>
                <a:spcPts val="1429"/>
              </a:lnSpc>
              <a:spcAft>
                <a:spcPts val="593"/>
              </a:spcAft>
              <a:buNone/>
            </a:pPr>
            <a:r>
              <a:rPr lang="en-US" sz="8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도입하여 </a:t>
            </a:r>
            <a:pPr algn="l" indent="0" marL="0">
              <a:lnSpc>
                <a:spcPts val="1429"/>
              </a:lnSpc>
              <a:buNone/>
            </a:pPr>
            <a:r>
              <a:rPr lang="en-US" sz="84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빌드 없이 콘텐츠 추가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562080" y="2448344"/>
            <a:ext cx="3711610" cy="18212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429"/>
              </a:lnSpc>
              <a:buNone/>
            </a:pPr>
            <a:r>
              <a:rPr lang="en-US" sz="84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시스템</a:t>
            </a:r>
            <a:pPr algn="l" indent="0" marL="0">
              <a:lnSpc>
                <a:spcPts val="1429"/>
              </a:lnSpc>
              <a:spcAft>
                <a:spcPts val="593"/>
              </a:spcAft>
              <a:buNone/>
            </a:pPr>
            <a:r>
              <a:rPr lang="en-US" sz="8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로비 / 인게임 / 스킬 / 적 / 맵 / 스탯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562080" y="2742572"/>
            <a:ext cx="3711610" cy="483577"/>
          </a:xfrm>
          <a:prstGeom prst="roundRect">
            <a:avLst>
              <a:gd name="adj" fmla="val 7792"/>
            </a:avLst>
          </a:prstGeom>
          <a:solidFill>
            <a:srgbClr val="F4EFFF"/>
          </a:solidFill>
          <a:ln/>
        </p:spPr>
      </p:sp>
      <p:sp>
        <p:nvSpPr>
          <p:cNvPr id="11" name="Text 9"/>
          <p:cNvSpPr/>
          <p:nvPr/>
        </p:nvSpPr>
        <p:spPr>
          <a:xfrm>
            <a:off x="700244" y="2817935"/>
            <a:ext cx="3460401" cy="33285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1차 발표는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만드는지"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집중</a:t>
            </a:r>
            <a:pPr algn="l" indent="0" marL="0">
              <a:buNone/>
            </a:pPr>
            <a:endParaRPr lang="en-US" sz="79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2차 발표는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만들었는지"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아키텍처 중심</a:t>
            </a:r>
            <a:endParaRPr lang="en-US" sz="790" dirty="0"/>
          </a:p>
        </p:txBody>
      </p:sp>
      <p:sp>
        <p:nvSpPr>
          <p:cNvPr id="12" name="Shape 10"/>
          <p:cNvSpPr/>
          <p:nvPr/>
        </p:nvSpPr>
        <p:spPr>
          <a:xfrm>
            <a:off x="4685044" y="1134836"/>
            <a:ext cx="4082143" cy="3516923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0048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0781" y="1295610"/>
            <a:ext cx="1042516" cy="175846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495"/>
              </a:spcAft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이번 발표 핵심 주제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4870310" y="1597060"/>
            <a:ext cx="3711610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95"/>
              </a:spcBef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4가지 축</a:t>
            </a:r>
            <a:endParaRPr lang="en-US" sz="1090" dirty="0"/>
          </a:p>
        </p:txBody>
      </p:sp>
      <p:sp>
        <p:nvSpPr>
          <p:cNvPr id="15" name="Shape 13"/>
          <p:cNvSpPr/>
          <p:nvPr/>
        </p:nvSpPr>
        <p:spPr>
          <a:xfrm>
            <a:off x="4870310" y="1886578"/>
            <a:ext cx="3711610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4031" y="1983922"/>
            <a:ext cx="816429" cy="200967"/>
          </a:xfrm>
          <a:prstGeom prst="roundRect">
            <a:avLst>
              <a:gd name="adj" fmla="val 18750"/>
            </a:avLst>
          </a:prstGeom>
          <a:solidFill>
            <a:srgbClr val="27AE60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Addressable</a:t>
            </a:r>
            <a:endParaRPr lang="en-US" sz="690" dirty="0"/>
          </a:p>
        </p:txBody>
      </p:sp>
      <p:sp>
        <p:nvSpPr>
          <p:cNvPr id="17" name="Text 15"/>
          <p:cNvSpPr/>
          <p:nvPr/>
        </p:nvSpPr>
        <p:spPr>
          <a:xfrm>
            <a:off x="5909687" y="2009042"/>
            <a:ext cx="2549769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 기반 비동기 로드 —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수정 없이 콘텐츠 확장</a:t>
            </a:r>
            <a:endParaRPr lang="en-US" sz="790" dirty="0"/>
          </a:p>
        </p:txBody>
      </p:sp>
      <p:sp>
        <p:nvSpPr>
          <p:cNvPr id="18" name="Shape 16"/>
          <p:cNvSpPr/>
          <p:nvPr/>
        </p:nvSpPr>
        <p:spPr>
          <a:xfrm>
            <a:off x="4870310" y="2346290"/>
            <a:ext cx="3711610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94031" y="2443633"/>
            <a:ext cx="816429" cy="200967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System</a:t>
            </a:r>
            <a:endParaRPr lang="en-US" sz="690" dirty="0"/>
          </a:p>
        </p:txBody>
      </p:sp>
      <p:sp>
        <p:nvSpPr>
          <p:cNvPr id="20" name="Text 18"/>
          <p:cNvSpPr/>
          <p:nvPr/>
        </p:nvSpPr>
        <p:spPr>
          <a:xfrm>
            <a:off x="5909687" y="2468754"/>
            <a:ext cx="2549769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 스탯 + SO 에셋을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mapId 키</a:t>
            </a:r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결합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4870310" y="2806002"/>
            <a:ext cx="3711610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4031" y="2903346"/>
            <a:ext cx="816429" cy="200967"/>
          </a:xfrm>
          <a:prstGeom prst="roundRect">
            <a:avLst>
              <a:gd name="adj" fmla="val 1875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 모듈화</a:t>
            </a:r>
            <a:endParaRPr lang="en-US" sz="690" dirty="0"/>
          </a:p>
        </p:txBody>
      </p:sp>
      <p:sp>
        <p:nvSpPr>
          <p:cNvPr id="23" name="Text 21"/>
          <p:cNvSpPr/>
          <p:nvPr/>
        </p:nvSpPr>
        <p:spPr>
          <a:xfrm>
            <a:off x="5909687" y="2928467"/>
            <a:ext cx="2549769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비트 플래그 태그로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이동·공격·속성 조합</a:t>
            </a:r>
            <a:endParaRPr lang="en-US" sz="790" dirty="0"/>
          </a:p>
        </p:txBody>
      </p:sp>
      <p:sp>
        <p:nvSpPr>
          <p:cNvPr id="24" name="Shape 22"/>
          <p:cNvSpPr/>
          <p:nvPr/>
        </p:nvSpPr>
        <p:spPr>
          <a:xfrm>
            <a:off x="4870310" y="3265715"/>
            <a:ext cx="3711610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4031" y="3363058"/>
            <a:ext cx="816429" cy="200967"/>
          </a:xfrm>
          <a:prstGeom prst="roundRect">
            <a:avLst>
              <a:gd name="adj" fmla="val 18750"/>
            </a:avLst>
          </a:prstGeom>
          <a:solidFill>
            <a:srgbClr val="9B59B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FSM (State)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5909687" y="3388179"/>
            <a:ext cx="2549769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EnemyBrain SO가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전이 그래프</a:t>
            </a:r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데이터화</a:t>
            </a:r>
            <a:endParaRPr lang="en-US" sz="79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080" y="2742572"/>
            <a:ext cx="3711610" cy="4835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20"/>
            <a:ext cx="9144000" cy="5124659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3" name="Text 1"/>
          <p:cNvSpPr/>
          <p:nvPr/>
        </p:nvSpPr>
        <p:spPr>
          <a:xfrm>
            <a:off x="251209" y="197827"/>
            <a:ext cx="8641582" cy="314011"/>
          </a:xfrm>
          <a:prstGeom prst="roundRect">
            <a:avLst>
              <a:gd name="adj" fmla="val 16000"/>
            </a:avLst>
          </a:prstGeom>
          <a:solidFill>
            <a:srgbClr val="7B6FA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spc="4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캡스톤디자인(1) 2차 발표</a:t>
            </a:r>
            <a:endParaRPr lang="en-US" sz="890" dirty="0"/>
          </a:p>
        </p:txBody>
      </p:sp>
      <p:sp>
        <p:nvSpPr>
          <p:cNvPr id="4" name="Text 2"/>
          <p:cNvSpPr/>
          <p:nvPr/>
        </p:nvSpPr>
        <p:spPr>
          <a:xfrm>
            <a:off x="376813" y="638070"/>
            <a:ext cx="8390374" cy="3454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187"/>
              </a:spcAft>
              <a:buNone/>
            </a:pPr>
            <a:r>
              <a:rPr lang="en-US" sz="188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아키텍처 개요 — 계층 구조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376342" y="1135463"/>
            <a:ext cx="4182626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9905" y="1232807"/>
            <a:ext cx="816429" cy="200967"/>
          </a:xfrm>
          <a:prstGeom prst="roundRect">
            <a:avLst>
              <a:gd name="adj" fmla="val 18750"/>
            </a:avLst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Layer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1415719" y="1257928"/>
            <a:ext cx="3020786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패턴</a:t>
            </a:r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Presenter(로직) + View(표시)</a:t>
            </a:r>
            <a:endParaRPr lang="en-US" sz="790" dirty="0"/>
          </a:p>
        </p:txBody>
      </p:sp>
      <p:sp>
        <p:nvSpPr>
          <p:cNvPr id="8" name="Shape 6"/>
          <p:cNvSpPr/>
          <p:nvPr/>
        </p:nvSpPr>
        <p:spPr>
          <a:xfrm>
            <a:off x="376342" y="1595177"/>
            <a:ext cx="4182626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905" y="1692519"/>
            <a:ext cx="816429" cy="200967"/>
          </a:xfrm>
          <a:prstGeom prst="roundRect">
            <a:avLst>
              <a:gd name="adj" fmla="val 18750"/>
            </a:avLst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Manager Layer</a:t>
            </a:r>
            <a:endParaRPr lang="en-US" sz="690" dirty="0"/>
          </a:p>
        </p:txBody>
      </p:sp>
      <p:sp>
        <p:nvSpPr>
          <p:cNvPr id="10" name="Text 8"/>
          <p:cNvSpPr/>
          <p:nvPr/>
        </p:nvSpPr>
        <p:spPr>
          <a:xfrm>
            <a:off x="1415719" y="1717640"/>
            <a:ext cx="3020786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16개의 싱글톤 매니저</a:t>
            </a:r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Game / Map / Enemy / Character / Skill ...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376342" y="2054889"/>
            <a:ext cx="4182626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905" y="2152231"/>
            <a:ext cx="816429" cy="200967"/>
          </a:xfrm>
          <a:prstGeom prst="roundRect">
            <a:avLst>
              <a:gd name="adj" fmla="val 18750"/>
            </a:avLst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 Bus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1415719" y="2177352"/>
            <a:ext cx="3020786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매니저 간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느슨한 결합</a:t>
            </a:r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우선순위 기반 Pub/Sub</a:t>
            </a:r>
            <a:endParaRPr lang="en-US" sz="790" dirty="0"/>
          </a:p>
        </p:txBody>
      </p:sp>
      <p:sp>
        <p:nvSpPr>
          <p:cNvPr id="14" name="Shape 12"/>
          <p:cNvSpPr/>
          <p:nvPr/>
        </p:nvSpPr>
        <p:spPr>
          <a:xfrm>
            <a:off x="376342" y="2514600"/>
            <a:ext cx="4182626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905" y="2611944"/>
            <a:ext cx="816429" cy="200967"/>
          </a:xfrm>
          <a:prstGeom prst="roundRect">
            <a:avLst>
              <a:gd name="adj" fmla="val 18750"/>
            </a:avLst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 Pool</a:t>
            </a:r>
            <a:endParaRPr lang="en-US" sz="690" dirty="0"/>
          </a:p>
        </p:txBody>
      </p:sp>
      <p:sp>
        <p:nvSpPr>
          <p:cNvPr id="16" name="Text 14"/>
          <p:cNvSpPr/>
          <p:nvPr/>
        </p:nvSpPr>
        <p:spPr>
          <a:xfrm>
            <a:off x="1415719" y="2637065"/>
            <a:ext cx="3020786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PoolManager — 적·투사체·이펙트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재사용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376342" y="2974312"/>
            <a:ext cx="4182626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905" y="3071656"/>
            <a:ext cx="816429" cy="200967"/>
          </a:xfrm>
          <a:prstGeom prst="roundRect">
            <a:avLst>
              <a:gd name="adj" fmla="val 18750"/>
            </a:avLst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Addressables</a:t>
            </a:r>
            <a:endParaRPr lang="en-US" sz="690" dirty="0"/>
          </a:p>
        </p:txBody>
      </p:sp>
      <p:sp>
        <p:nvSpPr>
          <p:cNvPr id="19" name="Text 17"/>
          <p:cNvSpPr/>
          <p:nvPr/>
        </p:nvSpPr>
        <p:spPr>
          <a:xfrm>
            <a:off x="1415719" y="3096777"/>
            <a:ext cx="3020786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프리팹·SO를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라벨로 비동기 로드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376342" y="3434024"/>
            <a:ext cx="4182626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905" y="3531368"/>
            <a:ext cx="816429" cy="200967"/>
          </a:xfrm>
          <a:prstGeom prst="roundRect">
            <a:avLst>
              <a:gd name="adj" fmla="val 18750"/>
            </a:avLst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Layer</a:t>
            </a:r>
            <a:endParaRPr lang="en-US" sz="690" dirty="0"/>
          </a:p>
        </p:txBody>
      </p:sp>
      <p:sp>
        <p:nvSpPr>
          <p:cNvPr id="22" name="Text 20"/>
          <p:cNvSpPr/>
          <p:nvPr/>
        </p:nvSpPr>
        <p:spPr>
          <a:xfrm>
            <a:off x="1415719" y="3556489"/>
            <a:ext cx="3020786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 스탯 데이터 + ScriptableObject 에셋 참조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4785057" y="1134835"/>
            <a:ext cx="3981659" cy="3969099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0323" y="1295610"/>
            <a:ext cx="3611126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🔁 데이터 흐름</a:t>
            </a:r>
            <a:endParaRPr lang="en-US" sz="1090" dirty="0"/>
          </a:p>
        </p:txBody>
      </p:sp>
      <p:sp>
        <p:nvSpPr>
          <p:cNvPr id="25" name="Text 23"/>
          <p:cNvSpPr/>
          <p:nvPr/>
        </p:nvSpPr>
        <p:spPr>
          <a:xfrm>
            <a:off x="4970323" y="1571939"/>
            <a:ext cx="3611126" cy="2738176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9"/>
              </a:lnSpc>
              <a:buNone/>
            </a:pPr>
            <a:r>
              <a:rPr lang="en-US" sz="640" dirty="0">
                <a:solidFill>
                  <a:srgbClr val="3A3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┌──────────────────┐ │ InitManager │ 진입점 · 초기화 순서 조율 └────────┬─────────┘ ▼ ┌──────────────────┐ │ DataManager │ JSON 로드 (mapData, enemyData) └────────┬─────────┘ ▼ ┌──────────────────┐ │ Addressables │ SO·프리팹 라벨 로드 │ (PoolManager) │ └────────┬─────────┘ ▼ ┌──────────────────┐ │ Managers 초기화 │ 딕셔너리에 캐싱 └────────┬─────────┘ ▼ ┌──────────────────┐ │ Game Loop │ EventBus Publish/Subscribe └──────────────────┘</a:t>
            </a:r>
            <a:endParaRPr lang="en-US" sz="640" dirty="0"/>
          </a:p>
        </p:txBody>
      </p:sp>
      <p:sp>
        <p:nvSpPr>
          <p:cNvPr id="26" name="Shape 24"/>
          <p:cNvSpPr/>
          <p:nvPr/>
        </p:nvSpPr>
        <p:spPr>
          <a:xfrm>
            <a:off x="4970323" y="4384850"/>
            <a:ext cx="3611126" cy="483577"/>
          </a:xfrm>
          <a:prstGeom prst="roundRect">
            <a:avLst>
              <a:gd name="adj" fmla="val 7792"/>
            </a:avLst>
          </a:prstGeom>
          <a:solidFill>
            <a:srgbClr val="F4E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108488" y="4460212"/>
            <a:ext cx="3359918" cy="33285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핵심: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JSON(수치) + SO(에셋)을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 키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조인하여 두 레이어를 분리. 기획자는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수정하고, 아티스트는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교체할 수 있다.</a:t>
            </a:r>
            <a:endParaRPr lang="en-US" sz="79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70323" y="4384850"/>
            <a:ext cx="3611126" cy="4835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20"/>
            <a:ext cx="9144000" cy="5124659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3" name="Text 1"/>
          <p:cNvSpPr/>
          <p:nvPr/>
        </p:nvSpPr>
        <p:spPr>
          <a:xfrm>
            <a:off x="251209" y="197827"/>
            <a:ext cx="8641582" cy="314011"/>
          </a:xfrm>
          <a:prstGeom prst="roundRect">
            <a:avLst>
              <a:gd name="adj" fmla="val 16000"/>
            </a:avLst>
          </a:prstGeom>
          <a:solidFill>
            <a:srgbClr val="7B6FA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spc="4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캡스톤디자인(1) 2차 발표</a:t>
            </a:r>
            <a:endParaRPr lang="en-US" sz="890" dirty="0"/>
          </a:p>
        </p:txBody>
      </p:sp>
      <p:sp>
        <p:nvSpPr>
          <p:cNvPr id="4" name="Text 2"/>
          <p:cNvSpPr/>
          <p:nvPr/>
        </p:nvSpPr>
        <p:spPr>
          <a:xfrm>
            <a:off x="376813" y="638070"/>
            <a:ext cx="8390374" cy="3454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187"/>
              </a:spcAft>
              <a:buNone/>
            </a:pPr>
            <a:r>
              <a:rPr lang="en-US" sz="188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Addressable Assets — 라벨 기반 일괄 로드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376813" y="1134207"/>
            <a:ext cx="8390374" cy="992275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0048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1246" y="1283049"/>
            <a:ext cx="828989" cy="175846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495"/>
              </a:spcAft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핵심 아이디어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549519" y="1570683"/>
            <a:ext cx="8044962" cy="40821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597"/>
              </a:lnSpc>
              <a:spcBef>
                <a:spcPts val="396"/>
              </a:spcBef>
              <a:buNone/>
            </a:pPr>
            <a:r>
              <a:rPr lang="en-US" sz="9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프리팹·SO에 </a:t>
            </a:r>
            <a:pPr algn="l" indent="0" marL="0">
              <a:lnSpc>
                <a:spcPts val="1597"/>
              </a:lnSpc>
              <a:buNone/>
            </a:pPr>
            <a:r>
              <a:rPr lang="en-US" sz="94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"character"</a:t>
            </a:r>
            <a:pPr algn="l" indent="0" marL="0">
              <a:lnSpc>
                <a:spcPts val="1597"/>
              </a:lnSpc>
              <a:spcBef>
                <a:spcPts val="396"/>
              </a:spcBef>
              <a:buNone/>
            </a:pPr>
            <a:r>
              <a:rPr lang="en-US" sz="9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lnSpc>
                <a:spcPts val="1597"/>
              </a:lnSpc>
              <a:buNone/>
            </a:pPr>
            <a:r>
              <a:rPr lang="en-US" sz="94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"map_config"</a:t>
            </a:r>
            <a:pPr algn="l" indent="0" marL="0">
              <a:lnSpc>
                <a:spcPts val="1597"/>
              </a:lnSpc>
              <a:spcBef>
                <a:spcPts val="396"/>
              </a:spcBef>
              <a:buNone/>
            </a:pPr>
            <a:r>
              <a:rPr lang="en-US" sz="9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lnSpc>
                <a:spcPts val="1597"/>
              </a:lnSpc>
              <a:buNone/>
            </a:pPr>
            <a:r>
              <a:rPr lang="en-US" sz="94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"skill_config"</a:t>
            </a:r>
            <a:pPr algn="l" indent="0" marL="0">
              <a:lnSpc>
                <a:spcPts val="1597"/>
              </a:lnSpc>
              <a:spcBef>
                <a:spcPts val="396"/>
              </a:spcBef>
              <a:buNone/>
            </a:pPr>
            <a:r>
              <a:rPr lang="en-US" sz="9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같은 </a:t>
            </a:r>
            <a:pPr algn="l" indent="0" marL="0">
              <a:lnSpc>
                <a:spcPts val="1597"/>
              </a:lnSpc>
              <a:buNone/>
            </a:pPr>
            <a:r>
              <a:rPr lang="en-US" sz="94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라벨(이름표)</a:t>
            </a:r>
            <a:pPr algn="l" indent="0" marL="0">
              <a:lnSpc>
                <a:spcPts val="1597"/>
              </a:lnSpc>
              <a:spcBef>
                <a:spcPts val="396"/>
              </a:spcBef>
              <a:buNone/>
            </a:pPr>
            <a:r>
              <a:rPr lang="en-US" sz="9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붙이면, 매니저는 라벨 한 번으로 </a:t>
            </a:r>
            <a:pPr algn="l" indent="0" marL="0">
              <a:lnSpc>
                <a:spcPts val="1597"/>
              </a:lnSpc>
              <a:buNone/>
            </a:pPr>
            <a:r>
              <a:rPr lang="en-US" sz="94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라벨이 붙은 모든 에셋을 일괄 비동기 로드</a:t>
            </a:r>
            <a:pPr algn="l" indent="0" marL="0">
              <a:lnSpc>
                <a:spcPts val="1597"/>
              </a:lnSpc>
              <a:spcBef>
                <a:spcPts val="396"/>
              </a:spcBef>
              <a:buNone/>
            </a:pPr>
            <a:r>
              <a:rPr lang="en-US" sz="9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한다.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375557" y="2227594"/>
            <a:ext cx="3981659" cy="18338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3964" y="2387112"/>
            <a:ext cx="3604846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E74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기존: SerializeField 바인딩</a:t>
            </a:r>
            <a:endParaRPr lang="en-US" sz="1090" dirty="0"/>
          </a:p>
        </p:txBody>
      </p:sp>
      <p:sp>
        <p:nvSpPr>
          <p:cNvPr id="10" name="Text 8"/>
          <p:cNvSpPr/>
          <p:nvPr/>
        </p:nvSpPr>
        <p:spPr>
          <a:xfrm>
            <a:off x="563964" y="2664070"/>
            <a:ext cx="3604846" cy="1237203"/>
          </a:xfrm>
          <a:prstGeom prst="roundRect">
            <a:avLst>
              <a:gd name="adj" fmla="val 5076"/>
            </a:avLst>
          </a:prstGeom>
          <a:solidFill>
            <a:srgbClr val="2D2640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96"/>
              </a:lnSpc>
              <a:buNone/>
            </a:pPr>
            <a:r>
              <a:rPr lang="en-US" sz="64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새 캐릭터를 추가할 때마다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96"/>
              </a:lnSpc>
              <a:buNone/>
            </a:pPr>
            <a:r>
              <a:rPr lang="en-US" sz="64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필드를 늘리고 인스펙터에서 일일이 연결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</a:t>
            </a:r>
            <a:pPr algn="l" indent="0" marL="0">
              <a:lnSpc>
                <a:spcPts val="996"/>
              </a:lnSpc>
              <a:buNone/>
            </a:pPr>
            <a:r>
              <a:rPr lang="en-US" sz="64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SerializeField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 </a:t>
            </a:r>
            <a:pPr algn="l" indent="0" marL="0">
              <a:lnSpc>
                <a:spcPts val="996"/>
              </a:lnSpc>
              <a:buNone/>
            </a:pPr>
            <a:r>
              <a:rPr lang="en-US" sz="64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CharacterIdentity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alex; [</a:t>
            </a:r>
            <a:pPr algn="l" indent="0" marL="0">
              <a:lnSpc>
                <a:spcPts val="996"/>
              </a:lnSpc>
              <a:buNone/>
            </a:pPr>
            <a:r>
              <a:rPr lang="en-US" sz="64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SerializeField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 </a:t>
            </a:r>
            <a:pPr algn="l" indent="0" marL="0">
              <a:lnSpc>
                <a:spcPts val="996"/>
              </a:lnSpc>
              <a:buNone/>
            </a:pPr>
            <a:r>
              <a:rPr lang="en-US" sz="64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CharacterIdentity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luna; [</a:t>
            </a:r>
            <a:pPr algn="l" indent="0" marL="0">
              <a:lnSpc>
                <a:spcPts val="996"/>
              </a:lnSpc>
              <a:buNone/>
            </a:pPr>
            <a:r>
              <a:rPr lang="en-US" sz="64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SerializeField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 </a:t>
            </a:r>
            <a:pPr algn="l" indent="0" marL="0">
              <a:lnSpc>
                <a:spcPts val="996"/>
              </a:lnSpc>
              <a:buNone/>
            </a:pPr>
            <a:r>
              <a:rPr lang="en-US" sz="64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CharacterIdentity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kai; </a:t>
            </a:r>
            <a:pPr algn="l" indent="0" marL="0">
              <a:lnSpc>
                <a:spcPts val="996"/>
              </a:lnSpc>
              <a:buNone/>
            </a:pPr>
            <a:r>
              <a:rPr lang="en-US" sz="64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→ 콘텐츠가 늘수록 관리 비용 폭발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96"/>
              </a:lnSpc>
              <a:buNone/>
            </a:pPr>
            <a:r>
              <a:rPr lang="en-US" sz="64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→ 새 빌드를 매번 다시 만들어야 함</a:t>
            </a:r>
            <a:endParaRPr lang="en-US" sz="640" dirty="0"/>
          </a:p>
        </p:txBody>
      </p:sp>
      <p:sp>
        <p:nvSpPr>
          <p:cNvPr id="11" name="Shape 9"/>
          <p:cNvSpPr/>
          <p:nvPr/>
        </p:nvSpPr>
        <p:spPr>
          <a:xfrm>
            <a:off x="4582676" y="2225867"/>
            <a:ext cx="5055577" cy="2216918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0048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7943" y="2387112"/>
            <a:ext cx="4685044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27AE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Addressable: 라벨만 붙이면 끝</a:t>
            </a:r>
            <a:endParaRPr lang="en-US" sz="1090" dirty="0"/>
          </a:p>
        </p:txBody>
      </p:sp>
      <p:sp>
        <p:nvSpPr>
          <p:cNvPr id="13" name="Text 11"/>
          <p:cNvSpPr/>
          <p:nvPr/>
        </p:nvSpPr>
        <p:spPr>
          <a:xfrm>
            <a:off x="4767943" y="2662343"/>
            <a:ext cx="4685044" cy="1620297"/>
          </a:xfrm>
          <a:prstGeom prst="roundRect">
            <a:avLst>
              <a:gd name="adj" fmla="val 3876"/>
            </a:avLst>
          </a:prstGeom>
          <a:solidFill>
            <a:srgbClr val="2D2640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96"/>
              </a:lnSpc>
              <a:buNone/>
            </a:pPr>
            <a:r>
              <a:rPr lang="en-US" sz="64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CharacterManager.cs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_loadHandle = </a:t>
            </a:r>
            <a:pPr algn="l" indent="0" marL="0">
              <a:lnSpc>
                <a:spcPts val="996"/>
              </a:lnSpc>
              <a:buNone/>
            </a:pPr>
            <a:r>
              <a:rPr lang="en-US" sz="64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Addressables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.LoadAssetsAsync&lt;</a:t>
            </a:r>
            <a:pPr algn="l" indent="0" marL="0">
              <a:lnSpc>
                <a:spcPts val="996"/>
              </a:lnSpc>
              <a:buNone/>
            </a:pPr>
            <a:r>
              <a:rPr lang="en-US" sz="64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CharacterIdentity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&gt;( characterLabel, </a:t>
            </a:r>
            <a:pPr algn="l" indent="0" marL="0">
              <a:lnSpc>
                <a:spcPts val="996"/>
              </a:lnSpc>
              <a:buNone/>
            </a:pPr>
            <a:r>
              <a:rPr lang="en-US" sz="64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"character"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96"/>
              </a:lnSpc>
              <a:buNone/>
            </a:pPr>
            <a:r>
              <a:rPr lang="en-US" sz="64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null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); </a:t>
            </a:r>
            <a:pPr algn="l" indent="0" marL="0">
              <a:lnSpc>
                <a:spcPts val="996"/>
              </a:lnSpc>
              <a:buNone/>
            </a:pPr>
            <a:r>
              <a:rPr lang="en-US" sz="64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_loadHandle.Task; </a:t>
            </a:r>
            <a:pPr algn="l" indent="0" marL="0">
              <a:lnSpc>
                <a:spcPts val="996"/>
              </a:lnSpc>
              <a:buNone/>
            </a:pPr>
            <a:r>
              <a:rPr lang="en-US" sz="64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foreach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pPr algn="l" indent="0" marL="0">
              <a:lnSpc>
                <a:spcPts val="996"/>
              </a:lnSpc>
              <a:buNone/>
            </a:pPr>
            <a:r>
              <a:rPr lang="en-US" sz="64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id </a:t>
            </a:r>
            <a:pPr algn="l" indent="0" marL="0">
              <a:lnSpc>
                <a:spcPts val="996"/>
              </a:lnSpc>
              <a:buNone/>
            </a:pPr>
            <a:r>
              <a:rPr lang="en-US" sz="64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pPr algn="l" indent="0" marL="0">
              <a:lnSpc>
                <a:spcPts val="996"/>
              </a:lnSpc>
              <a:spcBef>
                <a:spcPts val="396"/>
              </a:spcBef>
              <a:buNone/>
            </a:pPr>
            <a:r>
              <a:rPr lang="en-US" sz="64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_loadHandle.Result) _characterDict[id.characterId] = id; </a:t>
            </a:r>
            <a:pPr algn="l" indent="0" marL="0">
              <a:lnSpc>
                <a:spcPts val="996"/>
              </a:lnSpc>
              <a:buNone/>
            </a:pPr>
            <a:r>
              <a:rPr lang="en-US" sz="64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→ 새 캐릭터 SO에 라벨만 붙이면 자동 등록</a:t>
            </a:r>
            <a:endParaRPr lang="en-US" sz="6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20"/>
            <a:ext cx="9144000" cy="5124659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3" name="Text 1"/>
          <p:cNvSpPr/>
          <p:nvPr/>
        </p:nvSpPr>
        <p:spPr>
          <a:xfrm>
            <a:off x="251209" y="197827"/>
            <a:ext cx="8641582" cy="314011"/>
          </a:xfrm>
          <a:prstGeom prst="roundRect">
            <a:avLst>
              <a:gd name="adj" fmla="val 16000"/>
            </a:avLst>
          </a:prstGeom>
          <a:solidFill>
            <a:srgbClr val="7B6FA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spc="4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캡스톤디자인(1) 2차 발표</a:t>
            </a:r>
            <a:endParaRPr lang="en-US" sz="890" dirty="0"/>
          </a:p>
        </p:txBody>
      </p:sp>
      <p:sp>
        <p:nvSpPr>
          <p:cNvPr id="4" name="Text 2"/>
          <p:cNvSpPr/>
          <p:nvPr/>
        </p:nvSpPr>
        <p:spPr>
          <a:xfrm>
            <a:off x="376813" y="638070"/>
            <a:ext cx="8390374" cy="3454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187"/>
              </a:spcAft>
              <a:buNone/>
            </a:pPr>
            <a:r>
              <a:rPr lang="en-US" sz="188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Addressable Assets — 프로젝트 적용 사례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376774" y="1134837"/>
            <a:ext cx="3372478" cy="376813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2040" y="1295611"/>
            <a:ext cx="3001945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🏷 라벨별 매니저 매핑</a:t>
            </a:r>
            <a:endParaRPr lang="en-US" sz="109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040" y="1571941"/>
          <a:ext cx="3001945" cy="914400"/>
        </p:xfrm>
        <a:graphic>
          <a:graphicData uri="http://schemas.openxmlformats.org/drawingml/2006/table">
            <a:tbl>
              <a:tblPr/>
              <a:tblGrid>
                <a:gridCol w="770112"/>
                <a:gridCol w="1162783"/>
                <a:gridCol w="106269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라벨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55266" marB="55266" anchor="ctr">
                    <a:lnL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타입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55266" marB="55266" anchor="ctr">
                    <a:lnL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 매니저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55266" marB="55266" anchor="ctr">
                    <a:lnL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character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CharacterIdentity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CharacterManager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map_config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MapScriptable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MapManager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skill_config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SkillDefinition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SkillManager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enemy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GameObject (프리팹)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PoolManager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projectile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GameObject (프리팹)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PoolManager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orb_config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OrbConfiguration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OrbManager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2040" y="3130063"/>
            <a:ext cx="3001945" cy="646863"/>
          </a:xfrm>
          <a:prstGeom prst="roundRect">
            <a:avLst>
              <a:gd name="adj" fmla="val 5825"/>
            </a:avLst>
          </a:prstGeom>
          <a:solidFill>
            <a:srgbClr val="F4EFFF"/>
          </a:solidFill>
          <a:ln/>
        </p:spPr>
      </p:sp>
      <p:sp>
        <p:nvSpPr>
          <p:cNvPr id="9" name="Text 6"/>
          <p:cNvSpPr/>
          <p:nvPr/>
        </p:nvSpPr>
        <p:spPr>
          <a:xfrm>
            <a:off x="700205" y="3205426"/>
            <a:ext cx="2750736" cy="49613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콘텐츠 추가 시 — ① SO/프리팹 생성 → ② 라벨만 부여 → ③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수정 X, 빌드 X</a:t>
            </a:r>
            <a:pPr algn="l" indent="0" marL="0">
              <a:buNone/>
            </a:pPr>
            <a:endParaRPr lang="en-US" sz="79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빌드 위에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리모트 콘텐츠 패치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가능.</a:t>
            </a:r>
            <a:endParaRPr lang="en-US" sz="790" dirty="0"/>
          </a:p>
        </p:txBody>
      </p:sp>
      <p:sp>
        <p:nvSpPr>
          <p:cNvPr id="10" name="Shape 7"/>
          <p:cNvSpPr/>
          <p:nvPr/>
        </p:nvSpPr>
        <p:spPr>
          <a:xfrm>
            <a:off x="3975340" y="1134837"/>
            <a:ext cx="4791808" cy="37681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60606" y="1295611"/>
            <a:ext cx="4421275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🔧 통일된 로드 패턴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4160606" y="1570371"/>
            <a:ext cx="4421275" cy="2662813"/>
          </a:xfrm>
          <a:prstGeom prst="roundRect">
            <a:avLst>
              <a:gd name="adj" fmla="val 2358"/>
            </a:avLst>
          </a:prstGeom>
          <a:solidFill>
            <a:srgbClr val="2D2640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2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MapManager.cs — 콜백으로 즉시 딕셔너리 등록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_handle =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Addressables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.LoadAssetsAsync&lt;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MapScriptable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&gt;( label, </a:t>
            </a:r>
            <a:pPr algn="l" indent="0" marL="0">
              <a:lnSpc>
                <a:spcPts val="958"/>
              </a:lnSpc>
              <a:buNone/>
            </a:pPr>
            <a:r>
              <a:rPr lang="en-US" sz="62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"map_config"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so =&gt; {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(so) _mapDict[so.mapId] = so; } );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_handle.Task; </a:t>
            </a:r>
            <a:pPr algn="l" indent="0" marL="0">
              <a:lnSpc>
                <a:spcPts val="958"/>
              </a:lnSpc>
              <a:buNone/>
            </a:pPr>
            <a:r>
              <a:rPr lang="en-US" sz="62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SkillManager.cs — 한 번에 모두 캐싱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_loadHandle =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Addressables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.LoadAssetsAsync&lt;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SkillDefinition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&gt;( skillConfigLabel, </a:t>
            </a:r>
            <a:pPr algn="l" indent="0" marL="0">
              <a:lnSpc>
                <a:spcPts val="958"/>
              </a:lnSpc>
              <a:buNone/>
            </a:pPr>
            <a:r>
              <a:rPr lang="en-US" sz="62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"skill_config"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null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);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_loadHandle.Task;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foreach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def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_loadHandle.Result) _skillDict[def.skillId] = def;</a:t>
            </a:r>
            <a:endParaRPr lang="en-US" sz="620" dirty="0"/>
          </a:p>
        </p:txBody>
      </p:sp>
      <p:sp>
        <p:nvSpPr>
          <p:cNvPr id="13" name="Shape 10"/>
          <p:cNvSpPr/>
          <p:nvPr/>
        </p:nvSpPr>
        <p:spPr>
          <a:xfrm>
            <a:off x="4160606" y="4320793"/>
            <a:ext cx="4421275" cy="314011"/>
          </a:xfrm>
          <a:prstGeom prst="roundRect">
            <a:avLst>
              <a:gd name="adj" fmla="val 12000"/>
            </a:avLst>
          </a:prstGeom>
          <a:solidFill>
            <a:srgbClr val="F4E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298771" y="4396156"/>
            <a:ext cx="4170066" cy="16328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✨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InitManager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모든 매니저의 비동기 로드를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순차 await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하며 진행률을 UI 로딩바에 표시.</a:t>
            </a:r>
            <a:endParaRPr lang="en-US" sz="79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040" y="3130063"/>
            <a:ext cx="3001945" cy="646863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0606" y="4320793"/>
            <a:ext cx="4421275" cy="3140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20"/>
            <a:ext cx="9144000" cy="5124659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3" name="Text 1"/>
          <p:cNvSpPr/>
          <p:nvPr/>
        </p:nvSpPr>
        <p:spPr>
          <a:xfrm>
            <a:off x="251209" y="197827"/>
            <a:ext cx="8641582" cy="314011"/>
          </a:xfrm>
          <a:prstGeom prst="roundRect">
            <a:avLst>
              <a:gd name="adj" fmla="val 16000"/>
            </a:avLst>
          </a:prstGeom>
          <a:solidFill>
            <a:srgbClr val="7B6FA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spc="4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캡스톤디자인(1) 2차 발표</a:t>
            </a:r>
            <a:endParaRPr lang="en-US" sz="890" dirty="0"/>
          </a:p>
        </p:txBody>
      </p:sp>
      <p:sp>
        <p:nvSpPr>
          <p:cNvPr id="4" name="Text 2"/>
          <p:cNvSpPr/>
          <p:nvPr/>
        </p:nvSpPr>
        <p:spPr>
          <a:xfrm>
            <a:off x="376813" y="638070"/>
            <a:ext cx="8390374" cy="3454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187"/>
              </a:spcAft>
              <a:buNone/>
            </a:pPr>
            <a:r>
              <a:rPr lang="en-US" sz="188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System — JSON 데이터 + SO 에셋 결합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376813" y="1136093"/>
            <a:ext cx="8390374" cy="772467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1560" y="1283051"/>
            <a:ext cx="659423" cy="175846"/>
          </a:xfrm>
          <a:prstGeom prst="roundRect">
            <a:avLst>
              <a:gd name="adj" fmla="val 50000"/>
            </a:avLst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495"/>
              </a:spcAft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🗺 설계 원칙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549519" y="1560008"/>
            <a:ext cx="8044962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8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 데이터(스탯·배율)</a:t>
            </a:r>
            <a:pPr algn="l" indent="0" marL="0">
              <a:lnSpc>
                <a:spcPts val="1513"/>
              </a:lnSpc>
              <a:spcBef>
                <a:spcPts val="297"/>
              </a:spcBef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</a:t>
            </a:r>
            <a:pPr algn="l" indent="0" marL="0">
              <a:lnSpc>
                <a:spcPts val="1513"/>
              </a:lnSpc>
              <a:buNone/>
            </a:pPr>
            <a:r>
              <a:rPr lang="en-US" sz="8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</a:t>
            </a:r>
            <a:pPr algn="l" indent="0" marL="0">
              <a:lnSpc>
                <a:spcPts val="1513"/>
              </a:lnSpc>
              <a:spcBef>
                <a:spcPts val="297"/>
              </a:spcBef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으로, </a:t>
            </a:r>
            <a:pPr algn="l" indent="0" marL="0">
              <a:lnSpc>
                <a:spcPts val="1513"/>
              </a:lnSpc>
              <a:buNone/>
            </a:pPr>
            <a:r>
              <a:rPr lang="en-US" sz="8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참조(맵 프리팹·적 SO)</a:t>
            </a:r>
            <a:pPr algn="l" indent="0" marL="0">
              <a:lnSpc>
                <a:spcPts val="1513"/>
              </a:lnSpc>
              <a:spcBef>
                <a:spcPts val="297"/>
              </a:spcBef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</a:t>
            </a:r>
            <a:pPr algn="l" indent="0" marL="0">
              <a:lnSpc>
                <a:spcPts val="1513"/>
              </a:lnSpc>
              <a:buNone/>
            </a:pPr>
            <a:r>
              <a:rPr lang="en-US" sz="8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ScriptableObject</a:t>
            </a:r>
            <a:pPr algn="l" indent="0" marL="0">
              <a:lnSpc>
                <a:spcPts val="1513"/>
              </a:lnSpc>
              <a:spcBef>
                <a:spcPts val="297"/>
              </a:spcBef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분리. 두 레이어를 </a:t>
            </a:r>
            <a:pPr algn="l" indent="0" marL="0">
              <a:lnSpc>
                <a:spcPts val="1513"/>
              </a:lnSpc>
              <a:buNone/>
            </a:pPr>
            <a:r>
              <a:rPr lang="en-US" sz="8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mapId 키</a:t>
            </a:r>
            <a:pPr algn="l" indent="0" marL="0">
              <a:lnSpc>
                <a:spcPts val="1513"/>
              </a:lnSpc>
              <a:spcBef>
                <a:spcPts val="297"/>
              </a:spcBef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조인한다.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378226" y="2010299"/>
            <a:ext cx="4075863" cy="2888901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3493" y="2171073"/>
            <a:ext cx="3705330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JSON — mapData.json</a:t>
            </a:r>
            <a:endParaRPr lang="en-US" sz="1090" dirty="0"/>
          </a:p>
        </p:txBody>
      </p:sp>
      <p:sp>
        <p:nvSpPr>
          <p:cNvPr id="10" name="Text 8"/>
          <p:cNvSpPr/>
          <p:nvPr/>
        </p:nvSpPr>
        <p:spPr>
          <a:xfrm>
            <a:off x="563493" y="2448188"/>
            <a:ext cx="3705330" cy="1928027"/>
          </a:xfrm>
          <a:prstGeom prst="roundRect">
            <a:avLst>
              <a:gd name="adj" fmla="val 3257"/>
            </a:avLst>
          </a:prstGeom>
          <a:solidFill>
            <a:srgbClr val="2D2640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3E8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"mapId"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3E8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"moonlight_forest"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3E8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"stageCount"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F78C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3E8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"stageGrowth"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3E8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"hpMulPerStage"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F78C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1.05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3E8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"atkMulPerStage"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F78C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1.04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},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3E8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"mapModifier"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3E8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"hpMul"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F78C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3E8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"atkMul"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F78C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3E8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"speedMul"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F78C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 }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563493" y="4439489"/>
            <a:ext cx="3705330" cy="18212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429"/>
              </a:lnSpc>
              <a:spcBef>
                <a:spcPts val="495"/>
              </a:spcBef>
              <a:spcAft>
                <a:spcPts val="593"/>
              </a:spcAft>
              <a:buNone/>
            </a:pPr>
            <a:r>
              <a:rPr lang="en-US" sz="8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👉 </a:t>
            </a:r>
            <a:pPr algn="l" indent="0" marL="0">
              <a:lnSpc>
                <a:spcPts val="1429"/>
              </a:lnSpc>
              <a:buNone/>
            </a:pPr>
            <a:r>
              <a:rPr lang="en-US" sz="84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기획자</a:t>
            </a:r>
            <a:pPr algn="l" indent="0" marL="0">
              <a:lnSpc>
                <a:spcPts val="1429"/>
              </a:lnSpc>
              <a:spcBef>
                <a:spcPts val="495"/>
              </a:spcBef>
              <a:spcAft>
                <a:spcPts val="593"/>
              </a:spcAft>
              <a:buNone/>
            </a:pPr>
            <a:r>
              <a:rPr lang="en-US" sz="8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텍스트만 수정해서 난이도 조정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4680177" y="2010299"/>
            <a:ext cx="4088423" cy="2888901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8584" y="2171073"/>
            <a:ext cx="3711610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📦 SO — MapScriptable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4868584" y="2448580"/>
            <a:ext cx="3711610" cy="1318846"/>
          </a:xfrm>
          <a:prstGeom prst="roundRect">
            <a:avLst>
              <a:gd name="adj" fmla="val 4762"/>
            </a:avLst>
          </a:prstGeom>
          <a:solidFill>
            <a:srgbClr val="2D2640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CreateAssetMenu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(menuName=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3E8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"Map/MapScriptable"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)]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MapScriptable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: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ScriptableObject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string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mapId; </a:t>
            </a:r>
            <a:pPr algn="l" indent="0" marL="0">
              <a:lnSpc>
                <a:spcPts val="958"/>
              </a:lnSpc>
              <a:buNone/>
            </a:pPr>
            <a:r>
              <a:rPr lang="en-US" sz="62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조인 키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MapPrefabRef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mapList;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EnemyType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spawnEnemies;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MapPrefabRef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bossMap; }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4868584" y="3831092"/>
            <a:ext cx="3711610" cy="18212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429"/>
              </a:lnSpc>
              <a:spcBef>
                <a:spcPts val="495"/>
              </a:spcBef>
              <a:spcAft>
                <a:spcPts val="593"/>
              </a:spcAft>
              <a:buNone/>
            </a:pPr>
            <a:r>
              <a:rPr lang="en-US" sz="8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👉 </a:t>
            </a:r>
            <a:pPr algn="l" indent="0" marL="0">
              <a:lnSpc>
                <a:spcPts val="1429"/>
              </a:lnSpc>
              <a:buNone/>
            </a:pPr>
            <a:r>
              <a:rPr lang="en-US" sz="84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아티스트</a:t>
            </a:r>
            <a:pPr algn="l" indent="0" marL="0">
              <a:lnSpc>
                <a:spcPts val="1429"/>
              </a:lnSpc>
              <a:spcBef>
                <a:spcPts val="495"/>
              </a:spcBef>
              <a:spcAft>
                <a:spcPts val="593"/>
              </a:spcAft>
              <a:buNone/>
            </a:pPr>
            <a:r>
              <a:rPr lang="en-US" sz="8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프리팹·적 구성만 변경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4868584" y="4087639"/>
            <a:ext cx="3711610" cy="483577"/>
          </a:xfrm>
          <a:prstGeom prst="roundRect">
            <a:avLst>
              <a:gd name="adj" fmla="val 7792"/>
            </a:avLst>
          </a:prstGeom>
          <a:solidFill>
            <a:srgbClr val="F4E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06748" y="4163001"/>
            <a:ext cx="3460401" cy="33285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데이터 모두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"map_config"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라벨이 붙은 SO와 JSON 텍스트로부터 자동 로드 →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mapId로 조인</a:t>
            </a:r>
            <a:endParaRPr lang="en-US" sz="79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68584" y="4087639"/>
            <a:ext cx="3711610" cy="4835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20"/>
            <a:ext cx="9144000" cy="5124659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3" name="Text 1"/>
          <p:cNvSpPr/>
          <p:nvPr/>
        </p:nvSpPr>
        <p:spPr>
          <a:xfrm>
            <a:off x="251209" y="197827"/>
            <a:ext cx="8641582" cy="314011"/>
          </a:xfrm>
          <a:prstGeom prst="roundRect">
            <a:avLst>
              <a:gd name="adj" fmla="val 16000"/>
            </a:avLst>
          </a:prstGeom>
          <a:solidFill>
            <a:srgbClr val="7B6FA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spc="4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캡스톤디자인(1) 2차 발표</a:t>
            </a:r>
            <a:endParaRPr lang="en-US" sz="890" dirty="0"/>
          </a:p>
        </p:txBody>
      </p:sp>
      <p:sp>
        <p:nvSpPr>
          <p:cNvPr id="4" name="Text 2"/>
          <p:cNvSpPr/>
          <p:nvPr/>
        </p:nvSpPr>
        <p:spPr>
          <a:xfrm>
            <a:off x="376813" y="638070"/>
            <a:ext cx="8390374" cy="3454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187"/>
              </a:spcAft>
              <a:buNone/>
            </a:pPr>
            <a:r>
              <a:rPr lang="en-US" sz="188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System — 스테이지 진행 &amp; 조인 로직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376735" y="1134837"/>
            <a:ext cx="3655088" cy="3516923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2001" y="1295611"/>
            <a:ext cx="3284555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스테이지 진행 사이클</a:t>
            </a:r>
            <a:endParaRPr lang="en-US" sz="1090" dirty="0"/>
          </a:p>
        </p:txBody>
      </p:sp>
      <p:sp>
        <p:nvSpPr>
          <p:cNvPr id="7" name="Text 5"/>
          <p:cNvSpPr/>
          <p:nvPr/>
        </p:nvSpPr>
        <p:spPr>
          <a:xfrm>
            <a:off x="562708" y="1571941"/>
            <a:ext cx="226088" cy="226088"/>
          </a:xfrm>
          <a:prstGeom prst="ellipse">
            <a:avLst/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90" dirty="0"/>
          </a:p>
        </p:txBody>
      </p:sp>
      <p:sp>
        <p:nvSpPr>
          <p:cNvPr id="8" name="Text 6"/>
          <p:cNvSpPr/>
          <p:nvPr/>
        </p:nvSpPr>
        <p:spPr>
          <a:xfrm>
            <a:off x="863491" y="1600202"/>
            <a:ext cx="1827544" cy="16956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35"/>
              </a:lnSpc>
              <a:buNone/>
            </a:pPr>
            <a:r>
              <a:rPr lang="en-US" sz="8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맵</a:t>
            </a:r>
            <a:pPr algn="l" indent="0" marL="0">
              <a:lnSpc>
                <a:spcPts val="1335"/>
              </a:lnSpc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SO에 등록된 적이 랜덤 스폰</a:t>
            </a:r>
            <a:endParaRPr lang="en-US" sz="890" dirty="0"/>
          </a:p>
        </p:txBody>
      </p:sp>
      <p:sp>
        <p:nvSpPr>
          <p:cNvPr id="9" name="Text 7"/>
          <p:cNvSpPr/>
          <p:nvPr/>
        </p:nvSpPr>
        <p:spPr>
          <a:xfrm>
            <a:off x="675045" y="1885324"/>
            <a:ext cx="3171511" cy="25748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spcBef>
                <a:spcPts val="198"/>
              </a:spcBef>
              <a:spcAft>
                <a:spcPts val="198"/>
              </a:spcAft>
              <a:buNone/>
            </a:pPr>
            <a:r>
              <a:rPr lang="en-US" sz="1380" dirty="0">
                <a:solidFill>
                  <a:srgbClr val="B0A8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562708" y="2167304"/>
            <a:ext cx="226088" cy="226088"/>
          </a:xfrm>
          <a:prstGeom prst="ellipse">
            <a:avLst/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864237" y="2195565"/>
            <a:ext cx="2154115" cy="16956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35"/>
              </a:lnSpc>
              <a:buNone/>
            </a:pPr>
            <a:r>
              <a:rPr lang="en-US" sz="8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 지정 맵</a:t>
            </a:r>
            <a:pPr algn="l" indent="0" marL="0">
              <a:lnSpc>
                <a:spcPts val="1335"/>
              </a:lnSpc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특정 위치에 특정 적 고정 배치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675045" y="2480687"/>
            <a:ext cx="3171511" cy="25748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spcBef>
                <a:spcPts val="198"/>
              </a:spcBef>
              <a:spcAft>
                <a:spcPts val="198"/>
              </a:spcAft>
              <a:buNone/>
            </a:pPr>
            <a:r>
              <a:rPr lang="en-US" sz="1380" dirty="0">
                <a:solidFill>
                  <a:srgbClr val="B0A8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562708" y="2762668"/>
            <a:ext cx="226088" cy="226088"/>
          </a:xfrm>
          <a:prstGeom prst="ellipse">
            <a:avLst/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865532" y="2790929"/>
            <a:ext cx="1494692" cy="16956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35"/>
              </a:lnSpc>
              <a:buNone/>
            </a:pPr>
            <a:r>
              <a:rPr lang="en-US" sz="8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맵</a:t>
            </a:r>
            <a:pPr algn="l" indent="0" marL="0">
              <a:lnSpc>
                <a:spcPts val="1335"/>
              </a:lnSpc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10스테이지마다 등장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562001" y="3087983"/>
            <a:ext cx="3284555" cy="816429"/>
          </a:xfrm>
          <a:prstGeom prst="roundRect">
            <a:avLst>
              <a:gd name="adj" fmla="val 4615"/>
            </a:avLst>
          </a:prstGeom>
          <a:solidFill>
            <a:srgbClr val="F4E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0166" y="3163346"/>
            <a:ext cx="3033346" cy="66570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적 스탯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기본 스탯</a:t>
            </a:r>
            <a:pPr algn="l" indent="0" marL="0">
              <a:buNone/>
            </a:pPr>
            <a:endParaRPr lang="en-US" sz="79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맵 배율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(상위 맵일수록 큼)</a:t>
            </a:r>
            <a:pPr algn="l" indent="0" marL="0">
              <a:buNone/>
            </a:pPr>
            <a:endParaRPr lang="en-US" sz="79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스테이지 배율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(스테이지 진행마다 누적)</a:t>
            </a:r>
            <a:pPr algn="l" indent="0" marL="0">
              <a:buNone/>
            </a:pPr>
            <a:endParaRPr lang="en-US" sz="79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후반 맵의 높은 스테이지에서 자연스러운 난이도 상승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4257911" y="1134837"/>
            <a:ext cx="4509198" cy="3516923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3177" y="1295611"/>
            <a:ext cx="4138665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mapId 조인 코드 (MapManager.cs)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4443177" y="1572333"/>
            <a:ext cx="4138665" cy="2537209"/>
          </a:xfrm>
          <a:prstGeom prst="roundRect">
            <a:avLst>
              <a:gd name="adj" fmla="val 2475"/>
            </a:avLst>
          </a:prstGeom>
          <a:solidFill>
            <a:srgbClr val="2D2640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62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1) Addressable 라벨 로드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_handle =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Addressables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.LoadAssetsAsync&lt;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MapScriptable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&gt;( label, so =&gt; {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(so) _mapDict[so.mapId] = so; }); </a:t>
            </a:r>
            <a:pPr algn="l" indent="0" marL="0">
              <a:lnSpc>
                <a:spcPts val="958"/>
              </a:lnSpc>
              <a:buNone/>
            </a:pPr>
            <a:r>
              <a:rPr lang="en-US" sz="62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2) 스테이지 시작 시점에 두 레이어 조인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void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RefreshMapData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{ CurrentMapData = _dataManager.GetMapData(CurrentMapIndex); </a:t>
            </a:r>
            <a:pPr algn="l" indent="0" marL="0">
              <a:lnSpc>
                <a:spcPts val="958"/>
              </a:lnSpc>
              <a:buNone/>
            </a:pPr>
            <a:r>
              <a:rPr lang="en-US" sz="62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JSON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_currentMapID = CurrentMapData.mapId; _mapDict.TryGetValue(_currentMapID,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 var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so); </a:t>
            </a:r>
            <a:pPr algn="l" indent="0" marL="0">
              <a:lnSpc>
                <a:spcPts val="958"/>
              </a:lnSpc>
              <a:buNone/>
            </a:pPr>
            <a:r>
              <a:rPr lang="en-US" sz="620" i="1" dirty="0">
                <a:solidFill>
                  <a:srgbClr val="7C7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SO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_currentMapList = so.mapList; }</a:t>
            </a:r>
            <a:endParaRPr lang="en-US" sz="62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001" y="3087983"/>
            <a:ext cx="3284555" cy="8164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20"/>
            <a:ext cx="9144000" cy="5124659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3" name="Text 1"/>
          <p:cNvSpPr/>
          <p:nvPr/>
        </p:nvSpPr>
        <p:spPr>
          <a:xfrm>
            <a:off x="251209" y="197827"/>
            <a:ext cx="8641582" cy="314011"/>
          </a:xfrm>
          <a:prstGeom prst="roundRect">
            <a:avLst>
              <a:gd name="adj" fmla="val 16000"/>
            </a:avLst>
          </a:prstGeom>
          <a:solidFill>
            <a:srgbClr val="7B6FA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spc="4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캡스톤디자인(1) 2차 발표</a:t>
            </a:r>
            <a:endParaRPr lang="en-US" sz="890" dirty="0"/>
          </a:p>
        </p:txBody>
      </p:sp>
      <p:sp>
        <p:nvSpPr>
          <p:cNvPr id="4" name="Text 2"/>
          <p:cNvSpPr/>
          <p:nvPr/>
        </p:nvSpPr>
        <p:spPr>
          <a:xfrm>
            <a:off x="376813" y="638070"/>
            <a:ext cx="8390374" cy="3454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187"/>
              </a:spcAft>
              <a:buNone/>
            </a:pPr>
            <a:r>
              <a:rPr lang="en-US" sz="188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 System — 비트 플래그 기반 모듈화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376813" y="1133581"/>
            <a:ext cx="8390374" cy="97971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852" y="1283051"/>
            <a:ext cx="671984" cy="175846"/>
          </a:xfrm>
          <a:prstGeom prst="roundRect">
            <a:avLst>
              <a:gd name="adj" fmla="val 50000"/>
            </a:avLst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495"/>
              </a:spcAft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🧩 설계 원칙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549519" y="1560636"/>
            <a:ext cx="8044962" cy="40193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513"/>
              </a:lnSpc>
              <a:spcBef>
                <a:spcPts val="297"/>
              </a:spcBef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"근접 파이어 슬라임", "원거리 추적 화염병" 등을 </a:t>
            </a:r>
            <a:pPr algn="l" indent="0" marL="0">
              <a:lnSpc>
                <a:spcPts val="1513"/>
              </a:lnSpc>
              <a:buNone/>
            </a:pPr>
            <a:r>
              <a:rPr lang="en-US" sz="8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각각 새 클래스로 만들지 않는다.</a:t>
            </a:r>
            <a:pPr algn="l" indent="0" marL="0">
              <a:lnSpc>
                <a:spcPts val="1513"/>
              </a:lnSpc>
              <a:spcBef>
                <a:spcPts val="297"/>
              </a:spcBef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적의 능력을 </a:t>
            </a:r>
            <a:pPr algn="l" indent="0" marL="0">
              <a:lnSpc>
                <a:spcPts val="1513"/>
              </a:lnSpc>
              <a:buNone/>
            </a:pPr>
            <a:r>
              <a:rPr lang="en-US" sz="8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/ 공격 / 속성 / 정체성</a:t>
            </a:r>
            <a:pPr algn="l" indent="0" marL="0">
              <a:lnSpc>
                <a:spcPts val="1513"/>
              </a:lnSpc>
              <a:spcBef>
                <a:spcPts val="297"/>
              </a:spcBef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</a:t>
            </a:r>
            <a:pPr algn="l" indent="0" marL="0">
              <a:lnSpc>
                <a:spcPts val="1513"/>
              </a:lnSpc>
              <a:buNone/>
            </a:pPr>
            <a:r>
              <a:rPr lang="en-US" sz="8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축</a:t>
            </a:r>
            <a:pPr algn="l" indent="0" marL="0">
              <a:lnSpc>
                <a:spcPts val="1513"/>
              </a:lnSpc>
              <a:spcBef>
                <a:spcPts val="297"/>
              </a:spcBef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분해해 </a:t>
            </a:r>
            <a:pPr algn="l" indent="0" marL="0">
              <a:lnSpc>
                <a:spcPts val="1513"/>
              </a:lnSpc>
              <a:buNone/>
            </a:pPr>
            <a:r>
              <a:rPr lang="en-US" sz="8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비트 플래그([Flags] EnemyTag)</a:t>
            </a:r>
            <a:pPr algn="l" indent="0" marL="0">
              <a:lnSpc>
                <a:spcPts val="1513"/>
              </a:lnSpc>
              <a:spcBef>
                <a:spcPts val="297"/>
              </a:spcBef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조합한다.</a:t>
            </a:r>
            <a:endParaRPr lang="en-US" sz="89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6813" y="2211895"/>
          <a:ext cx="4082143" cy="914400"/>
        </p:xfrm>
        <a:graphic>
          <a:graphicData uri="http://schemas.openxmlformats.org/drawingml/2006/table">
            <a:tbl>
              <a:tblPr/>
              <a:tblGrid>
                <a:gridCol w="2038559"/>
                <a:gridCol w="2038559"/>
              </a:tblGrid>
              <a:tr h="0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highlight>
                            <a:srgbClr val="5B4F8A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유형 (Identity) · 이동 (Move)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55266" marB="55266" anchor="ctr">
                    <a:lnL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F8A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태그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55266" marB="55266" anchor="ctr">
                    <a:lnL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설명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55266" marB="55266" anchor="ctr">
                    <a:lnL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Melee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근접형 적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Ranged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원거리형 적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Boss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높은 체력 · 특수 패턴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FollowMove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플레이어 추적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PatternMove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정해진 경로 순회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RandomMove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랜덤 방향 이동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5044" y="2211895"/>
          <a:ext cx="4082143" cy="914400"/>
        </p:xfrm>
        <a:graphic>
          <a:graphicData uri="http://schemas.openxmlformats.org/drawingml/2006/table">
            <a:tbl>
              <a:tblPr/>
              <a:tblGrid>
                <a:gridCol w="2038559"/>
                <a:gridCol w="2038559"/>
              </a:tblGrid>
              <a:tr h="0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highlight>
                            <a:srgbClr val="5B4F8A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공격 (Attack) · 속성 (Attribute)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55266" marB="55266" anchor="ctr">
                    <a:lnL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F8A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태그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55266" marB="55266" anchor="ctr">
                    <a:lnL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설명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55266" marB="55266" anchor="ctr">
                    <a:lnL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9B8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MeleeAttack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근접 타격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FollowMeleeAttack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추적 후 돌진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Shoot / FlyingShoot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지상·공중 투사체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Fire / Ice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지속 데미지 · 둔화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Poison / Lightning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독 · 감전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b="1" dirty="0">
                          <a:solidFill>
                            <a:srgbClr val="3A3560"/>
                          </a:solidFill>
                          <a:highlight>
                            <a:srgbClr val="7B6FA6"/>
                          </a:highlight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Magma / Normal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69"/>
                        </a:lnSpc>
                        <a:buNone/>
                      </a:pPr>
                      <a:r>
                        <a:rPr lang="en-US" sz="690" dirty="0">
                          <a:solidFill>
                            <a:srgbClr val="3A356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데미지 증폭 · 무속성</a:t>
                      </a:r>
                      <a:endParaRPr lang="en-US" sz="69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7826" marR="67826" marT="42705" marB="42705" anchor="ctr">
                    <a:lnL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24" cap="flat" cmpd="sng" algn="ctr">
                      <a:solidFill>
                        <a:srgbClr val="D0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76813" y="3976165"/>
            <a:ext cx="8390374" cy="326571"/>
          </a:xfrm>
          <a:prstGeom prst="roundRect">
            <a:avLst>
              <a:gd name="adj" fmla="val 11538"/>
            </a:avLst>
          </a:prstGeom>
          <a:solidFill>
            <a:srgbClr val="F4EFFF"/>
          </a:solidFill>
          <a:ln/>
        </p:spPr>
      </p:sp>
      <p:sp>
        <p:nvSpPr>
          <p:cNvPr id="11" name="Text 7"/>
          <p:cNvSpPr/>
          <p:nvPr/>
        </p:nvSpPr>
        <p:spPr>
          <a:xfrm>
            <a:off x="514978" y="4051527"/>
            <a:ext cx="8139165" cy="17584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8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예: </a:t>
            </a:r>
            <a:pPr algn="l" indent="0" marL="0">
              <a:lnSpc>
                <a:spcPts val="1387"/>
              </a:lnSpc>
              <a:buNone/>
            </a:pPr>
            <a:r>
              <a:rPr lang="en-US" sz="84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Ranged | RandomMove | Shoot | Fire</a:t>
            </a:r>
            <a:pPr algn="l" indent="0" marL="0">
              <a:lnSpc>
                <a:spcPts val="1387"/>
              </a:lnSpc>
              <a:buNone/>
            </a:pPr>
            <a:r>
              <a:rPr lang="en-US" sz="8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ts val="1387"/>
              </a:lnSpc>
              <a:buNone/>
            </a:pPr>
            <a:r>
              <a:rPr lang="en-US" sz="84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"랜덤 방향으로 움직이며 화염 투사체를 쏘는 원거리 몬스터"</a:t>
            </a:r>
            <a:pPr algn="l" indent="0" marL="0">
              <a:lnSpc>
                <a:spcPts val="1387"/>
              </a:lnSpc>
              <a:buNone/>
            </a:pPr>
            <a:r>
              <a:rPr lang="en-US" sz="8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</a:t>
            </a:r>
            <a:pPr algn="l" indent="0" marL="0">
              <a:lnSpc>
                <a:spcPts val="1387"/>
              </a:lnSpc>
              <a:buNone/>
            </a:pPr>
            <a:r>
              <a:rPr lang="en-US" sz="84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클래스 작성 없이</a:t>
            </a:r>
            <a:pPr algn="l" indent="0" marL="0">
              <a:lnSpc>
                <a:spcPts val="1387"/>
              </a:lnSpc>
              <a:buNone/>
            </a:pPr>
            <a:r>
              <a:rPr lang="en-US" sz="84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즉시 만들어진다.</a:t>
            </a:r>
            <a:endParaRPr lang="en-US" sz="84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13" y="3976165"/>
            <a:ext cx="8390374" cy="3265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20"/>
            <a:ext cx="9144000" cy="5124659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3" name="Text 1"/>
          <p:cNvSpPr/>
          <p:nvPr/>
        </p:nvSpPr>
        <p:spPr>
          <a:xfrm>
            <a:off x="251209" y="197827"/>
            <a:ext cx="8641582" cy="314011"/>
          </a:xfrm>
          <a:prstGeom prst="roundRect">
            <a:avLst>
              <a:gd name="adj" fmla="val 16000"/>
            </a:avLst>
          </a:prstGeom>
          <a:solidFill>
            <a:srgbClr val="7B6FA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spc="4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캡스톤디자인(1) 2차 발표</a:t>
            </a:r>
            <a:endParaRPr lang="en-US" sz="890" dirty="0"/>
          </a:p>
        </p:txBody>
      </p:sp>
      <p:sp>
        <p:nvSpPr>
          <p:cNvPr id="4" name="Text 2"/>
          <p:cNvSpPr/>
          <p:nvPr/>
        </p:nvSpPr>
        <p:spPr>
          <a:xfrm>
            <a:off x="376813" y="638070"/>
            <a:ext cx="8390374" cy="3454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187"/>
              </a:spcAft>
              <a:buNone/>
            </a:pPr>
            <a:r>
              <a:rPr lang="en-US" sz="188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 System — Factory + Component 컴포지션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376813" y="1134837"/>
            <a:ext cx="4082143" cy="3642527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2080" y="1295611"/>
            <a:ext cx="3711610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🏭 모듈 레지스트리 (EnemyBehaviorFactory)</a:t>
            </a:r>
            <a:endParaRPr lang="en-US" sz="1090" dirty="0"/>
          </a:p>
        </p:txBody>
      </p:sp>
      <p:sp>
        <p:nvSpPr>
          <p:cNvPr id="7" name="Text 5"/>
          <p:cNvSpPr/>
          <p:nvPr/>
        </p:nvSpPr>
        <p:spPr>
          <a:xfrm>
            <a:off x="562080" y="1572569"/>
            <a:ext cx="3711610" cy="2794698"/>
          </a:xfrm>
          <a:prstGeom prst="roundRect">
            <a:avLst>
              <a:gd name="adj" fmla="val 2247"/>
            </a:avLst>
          </a:prstGeom>
          <a:solidFill>
            <a:srgbClr val="2D2640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static readonly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&lt;(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EnemyTag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)&gt; MoveModuleRegistry = 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{ (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EnemyTag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.FollowMove, 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typeof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FollowMove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)), (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EnemyTag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.PatternMove, 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typeof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PatternMove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)), (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EnemyTag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.RandomMove, 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typeof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RandomMove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 }; 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static void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CreateAttackModules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 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EnemyController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c, 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EnemyTag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tags, ... ) { 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foreach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kvp 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AttackModuleRegistry) { 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(!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EnemyTagUtil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.Has(tags, kvp.tag)) </a:t>
            </a:r>
            <a:pPr algn="l" indent="0" marL="0">
              <a:lnSpc>
                <a:spcPts val="920"/>
              </a:lnSpc>
              <a:buNone/>
            </a:pPr>
            <a:r>
              <a:rPr lang="en-US" sz="59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continue</a:t>
            </a:r>
            <a:pPr algn="l" indent="0" marL="0">
              <a:lnSpc>
                <a:spcPts val="920"/>
              </a:lnSpc>
              <a:spcBef>
                <a:spcPts val="396"/>
              </a:spcBef>
              <a:buNone/>
            </a:pPr>
            <a:r>
              <a:rPr lang="en-US" sz="59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c.gameObject.GetOrAddComponent(kvp.type); } }</a:t>
            </a:r>
            <a:endParaRPr lang="en-US" sz="590" dirty="0"/>
          </a:p>
        </p:txBody>
      </p:sp>
      <p:sp>
        <p:nvSpPr>
          <p:cNvPr id="8" name="Shape 6"/>
          <p:cNvSpPr/>
          <p:nvPr/>
        </p:nvSpPr>
        <p:spPr>
          <a:xfrm>
            <a:off x="4685044" y="1134837"/>
            <a:ext cx="4082143" cy="3642527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0310" y="1295611"/>
            <a:ext cx="3711610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🧬 적 생성 흐름</a:t>
            </a:r>
            <a:endParaRPr lang="en-US" sz="1090" dirty="0"/>
          </a:p>
        </p:txBody>
      </p:sp>
      <p:sp>
        <p:nvSpPr>
          <p:cNvPr id="10" name="Shape 8"/>
          <p:cNvSpPr/>
          <p:nvPr/>
        </p:nvSpPr>
        <p:spPr>
          <a:xfrm>
            <a:off x="4870310" y="1572569"/>
            <a:ext cx="3711610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4031" y="1669910"/>
            <a:ext cx="226088" cy="200967"/>
          </a:xfrm>
          <a:prstGeom prst="roundRect">
            <a:avLst>
              <a:gd name="adj" fmla="val 18750"/>
            </a:avLst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5319346" y="1695031"/>
            <a:ext cx="3140110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JSON에서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EnemyData</a:t>
            </a:r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로드 →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EnemyTag 비트마스크</a:t>
            </a:r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획득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4870310" y="2032279"/>
            <a:ext cx="3711610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94031" y="2129623"/>
            <a:ext cx="226088" cy="200967"/>
          </a:xfrm>
          <a:prstGeom prst="roundRect">
            <a:avLst>
              <a:gd name="adj" fmla="val 18750"/>
            </a:avLst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5319346" y="2154744"/>
            <a:ext cx="3140110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PoolManager가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"enemy" 라벨</a:t>
            </a:r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프리팹 인스턴스화</a:t>
            </a:r>
            <a:endParaRPr lang="en-US" sz="790" dirty="0"/>
          </a:p>
        </p:txBody>
      </p:sp>
      <p:sp>
        <p:nvSpPr>
          <p:cNvPr id="16" name="Shape 14"/>
          <p:cNvSpPr/>
          <p:nvPr/>
        </p:nvSpPr>
        <p:spPr>
          <a:xfrm>
            <a:off x="4870310" y="2491992"/>
            <a:ext cx="3711610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4031" y="2589336"/>
            <a:ext cx="226088" cy="200967"/>
          </a:xfrm>
          <a:prstGeom prst="roundRect">
            <a:avLst>
              <a:gd name="adj" fmla="val 18750"/>
            </a:avLst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5319346" y="2614457"/>
            <a:ext cx="3140110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Factory가 태그를 순회하며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모듈 Component만 부착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4870310" y="2951703"/>
            <a:ext cx="3711610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4031" y="3049047"/>
            <a:ext cx="226088" cy="200967"/>
          </a:xfrm>
          <a:prstGeom prst="roundRect">
            <a:avLst>
              <a:gd name="adj" fmla="val 18750"/>
            </a:avLst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endParaRPr lang="en-US" sz="690" dirty="0"/>
          </a:p>
        </p:txBody>
      </p:sp>
      <p:sp>
        <p:nvSpPr>
          <p:cNvPr id="21" name="Text 19"/>
          <p:cNvSpPr/>
          <p:nvPr/>
        </p:nvSpPr>
        <p:spPr>
          <a:xfrm>
            <a:off x="5319346" y="3074168"/>
            <a:ext cx="3140110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EnemyController가 모듈 리스트를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일괄 Init</a:t>
            </a:r>
            <a:endParaRPr lang="en-US" sz="790" dirty="0"/>
          </a:p>
        </p:txBody>
      </p:sp>
      <p:sp>
        <p:nvSpPr>
          <p:cNvPr id="22" name="Shape 20"/>
          <p:cNvSpPr/>
          <p:nvPr/>
        </p:nvSpPr>
        <p:spPr>
          <a:xfrm>
            <a:off x="4870310" y="3435281"/>
            <a:ext cx="3711610" cy="483577"/>
          </a:xfrm>
          <a:prstGeom prst="roundRect">
            <a:avLst>
              <a:gd name="adj" fmla="val 7792"/>
            </a:avLst>
          </a:prstGeom>
          <a:solidFill>
            <a:srgbClr val="F4E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08475" y="3510643"/>
            <a:ext cx="3460401" cy="33285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✨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OCP(개방-폐쇄 원칙)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충족 — 새 이동 모듈을 추가해도 Registry에 한 줄만 추가하면 끝. 기존 코드 수정 없이 확장 가능.</a:t>
            </a:r>
            <a:endParaRPr lang="en-US" sz="79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70310" y="3435281"/>
            <a:ext cx="3711610" cy="4835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20"/>
            <a:ext cx="9144000" cy="5124659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3" name="Text 1"/>
          <p:cNvSpPr/>
          <p:nvPr/>
        </p:nvSpPr>
        <p:spPr>
          <a:xfrm>
            <a:off x="251209" y="197827"/>
            <a:ext cx="8641582" cy="314011"/>
          </a:xfrm>
          <a:prstGeom prst="roundRect">
            <a:avLst>
              <a:gd name="adj" fmla="val 16000"/>
            </a:avLst>
          </a:prstGeom>
          <a:solidFill>
            <a:srgbClr val="7B6FA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spc="4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캡스톤디자인(1) 2차 발표</a:t>
            </a:r>
            <a:endParaRPr lang="en-US" sz="890" dirty="0"/>
          </a:p>
        </p:txBody>
      </p:sp>
      <p:sp>
        <p:nvSpPr>
          <p:cNvPr id="4" name="Text 2"/>
          <p:cNvSpPr/>
          <p:nvPr/>
        </p:nvSpPr>
        <p:spPr>
          <a:xfrm>
            <a:off x="376813" y="638070"/>
            <a:ext cx="8390374" cy="3454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187"/>
              </a:spcAft>
              <a:buNone/>
            </a:pPr>
            <a:r>
              <a:rPr lang="en-US" sz="188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 FSM — State 패턴 + EnemyBrain SO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376813" y="1134837"/>
            <a:ext cx="4082143" cy="3642527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2080" y="1295608"/>
            <a:ext cx="3711610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5가지 상태</a:t>
            </a:r>
            <a:endParaRPr lang="en-US" sz="1090" dirty="0"/>
          </a:p>
        </p:txBody>
      </p:sp>
      <p:sp>
        <p:nvSpPr>
          <p:cNvPr id="7" name="Text 5"/>
          <p:cNvSpPr/>
          <p:nvPr/>
        </p:nvSpPr>
        <p:spPr>
          <a:xfrm>
            <a:off x="562080" y="1571938"/>
            <a:ext cx="3711610" cy="205991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9"/>
              </a:lnSpc>
              <a:buNone/>
            </a:pPr>
            <a:r>
              <a:rPr lang="en-US" sz="640" dirty="0">
                <a:solidFill>
                  <a:srgbClr val="3A3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┌──────┐ │ Idle │◀───┐ └──┬───┘ │ 사망 시 LootDrop ▼ │ ┌──────┐ │ │ Move │ │ └──┬───┘ │ ▼ ▼ ┌──────┐ ┌──────┐ │Attack│ │ Die │ └──┬───┘ └──────┘ ▼ ┌──────┐ │ Hurt │ └──────┘</a:t>
            </a:r>
            <a:endParaRPr lang="en-US" sz="640" dirty="0"/>
          </a:p>
        </p:txBody>
      </p:sp>
      <p:sp>
        <p:nvSpPr>
          <p:cNvPr id="8" name="Shape 6"/>
          <p:cNvSpPr/>
          <p:nvPr/>
        </p:nvSpPr>
        <p:spPr>
          <a:xfrm>
            <a:off x="562080" y="3695280"/>
            <a:ext cx="3711610" cy="646863"/>
          </a:xfrm>
          <a:prstGeom prst="roundRect">
            <a:avLst>
              <a:gd name="adj" fmla="val 5825"/>
            </a:avLst>
          </a:prstGeom>
          <a:solidFill>
            <a:srgbClr val="F4EFFF"/>
          </a:solidFill>
          <a:ln/>
        </p:spPr>
      </p:sp>
      <p:sp>
        <p:nvSpPr>
          <p:cNvPr id="9" name="Text 7"/>
          <p:cNvSpPr/>
          <p:nvPr/>
        </p:nvSpPr>
        <p:spPr>
          <a:xfrm>
            <a:off x="700244" y="3770643"/>
            <a:ext cx="3460401" cy="49613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전이를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코드에 하드코딩하지 않고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EnemyBrain ScriptableObject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상태를 데이터로 정의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같은 적 프리팹도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Brain SO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부여하면 행동이 달라진다.</a:t>
            </a:r>
            <a:endParaRPr lang="en-US" sz="790" dirty="0"/>
          </a:p>
        </p:txBody>
      </p:sp>
      <p:sp>
        <p:nvSpPr>
          <p:cNvPr id="10" name="Shape 8"/>
          <p:cNvSpPr/>
          <p:nvPr/>
        </p:nvSpPr>
        <p:spPr>
          <a:xfrm>
            <a:off x="4685044" y="1135229"/>
            <a:ext cx="4082143" cy="3969099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0310" y="1295608"/>
            <a:ext cx="3711610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EnemyBrain.cs</a:t>
            </a:r>
            <a:endParaRPr lang="en-US" sz="1090" dirty="0"/>
          </a:p>
        </p:txBody>
      </p:sp>
      <p:sp>
        <p:nvSpPr>
          <p:cNvPr id="12" name="Text 10"/>
          <p:cNvSpPr/>
          <p:nvPr/>
        </p:nvSpPr>
        <p:spPr>
          <a:xfrm>
            <a:off x="4870310" y="1572330"/>
            <a:ext cx="3711610" cy="2537209"/>
          </a:xfrm>
          <a:prstGeom prst="roundRect">
            <a:avLst>
              <a:gd name="adj" fmla="val 2475"/>
            </a:avLst>
          </a:prstGeom>
          <a:solidFill>
            <a:srgbClr val="2D2640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CreateAssetMenu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(menuName=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3E88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"Enemy/Brain"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)]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EnemyBrain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: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ScriptableObject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EnemyState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afterIdle;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EnemyState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afterMove;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EnemyState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afterAttack;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EnemyState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afterHurt;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EnemyState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GetNextAction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EnemyState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state) =&gt; state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switch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EnemyState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.Idle =&gt; afterIdle,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EnemyState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.Move =&gt; afterMove,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EnemyState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.Attack =&gt; afterAttack, </a:t>
            </a:r>
            <a:pPr algn="l" indent="0" marL="0">
              <a:lnSpc>
                <a:spcPts val="958"/>
              </a:lnSpc>
              <a:buNone/>
            </a:pPr>
            <a:r>
              <a:rPr lang="en-US" sz="62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EnemyState</a:t>
            </a:r>
            <a:pPr algn="l" indent="0" marL="0">
              <a:lnSpc>
                <a:spcPts val="958"/>
              </a:lnSpc>
              <a:spcBef>
                <a:spcPts val="396"/>
              </a:spcBef>
              <a:buNone/>
            </a:pPr>
            <a:r>
              <a:rPr lang="en-US" sz="620" dirty="0">
                <a:solidFill>
                  <a:srgbClr val="E8E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.Hurt =&gt; afterHurt, _ =&gt; afterIdle }; }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4870310" y="4184666"/>
            <a:ext cx="3711610" cy="6845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45"/>
              </a:lnSpc>
              <a:spcBef>
                <a:spcPts val="593"/>
              </a:spcBef>
              <a:spcAft>
                <a:spcPts val="593"/>
              </a:spcAft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예시 Brain 설정</a:t>
            </a:r>
            <a:pPr algn="l" indent="0" marL="0">
              <a:buNone/>
            </a:pPr>
            <a:endParaRPr lang="en-US" sz="790" dirty="0"/>
          </a:p>
          <a:p>
            <a:pPr algn="l" indent="0" marL="0">
              <a:lnSpc>
                <a:spcPts val="1345"/>
              </a:lnSpc>
              <a:spcBef>
                <a:spcPts val="593"/>
              </a:spcBef>
              <a:spcAft>
                <a:spcPts val="593"/>
              </a:spcAft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pPr algn="l" indent="0" marL="0">
              <a:lnSpc>
                <a:spcPts val="1345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근접 적</a:t>
            </a:r>
            <a:pPr algn="l" indent="0" marL="0">
              <a:lnSpc>
                <a:spcPts val="1345"/>
              </a:lnSpc>
              <a:spcBef>
                <a:spcPts val="593"/>
              </a:spcBef>
              <a:spcAft>
                <a:spcPts val="593"/>
              </a:spcAft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Idle → Move → Attack</a:t>
            </a:r>
            <a:pPr algn="l" indent="0" marL="0">
              <a:buNone/>
            </a:pPr>
            <a:endParaRPr lang="en-US" sz="790" dirty="0"/>
          </a:p>
          <a:p>
            <a:pPr algn="l" indent="0" marL="0">
              <a:lnSpc>
                <a:spcPts val="1345"/>
              </a:lnSpc>
              <a:spcBef>
                <a:spcPts val="593"/>
              </a:spcBef>
              <a:spcAft>
                <a:spcPts val="593"/>
              </a:spcAft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pPr algn="l" indent="0" marL="0">
              <a:lnSpc>
                <a:spcPts val="1345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원거리 적</a:t>
            </a:r>
            <a:pPr algn="l" indent="0" marL="0">
              <a:lnSpc>
                <a:spcPts val="1345"/>
              </a:lnSpc>
              <a:spcBef>
                <a:spcPts val="593"/>
              </a:spcBef>
              <a:spcAft>
                <a:spcPts val="593"/>
              </a:spcAft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Idle → Attack (이동 X)</a:t>
            </a:r>
            <a:pPr algn="l" indent="0" marL="0">
              <a:buNone/>
            </a:pPr>
            <a:endParaRPr lang="en-US" sz="790" dirty="0"/>
          </a:p>
          <a:p>
            <a:pPr algn="l" indent="0" marL="0">
              <a:lnSpc>
                <a:spcPts val="1345"/>
              </a:lnSpc>
              <a:spcBef>
                <a:spcPts val="593"/>
              </a:spcBef>
              <a:spcAft>
                <a:spcPts val="593"/>
              </a:spcAft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pPr algn="l" indent="0" marL="0">
              <a:lnSpc>
                <a:spcPts val="1345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</a:t>
            </a:r>
            <a:pPr algn="l" indent="0" marL="0">
              <a:lnSpc>
                <a:spcPts val="1345"/>
              </a:lnSpc>
              <a:spcBef>
                <a:spcPts val="593"/>
              </a:spcBef>
              <a:spcAft>
                <a:spcPts val="593"/>
              </a:spcAft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Idle → Move → Attack (특수 패턴)</a:t>
            </a:r>
            <a:endParaRPr lang="en-US" sz="79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080" y="3695280"/>
            <a:ext cx="3711610" cy="6468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20"/>
            <a:ext cx="9144000" cy="5124659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3" name="Text 1"/>
          <p:cNvSpPr/>
          <p:nvPr/>
        </p:nvSpPr>
        <p:spPr>
          <a:xfrm>
            <a:off x="251209" y="197827"/>
            <a:ext cx="8641582" cy="314011"/>
          </a:xfrm>
          <a:prstGeom prst="roundRect">
            <a:avLst>
              <a:gd name="adj" fmla="val 16000"/>
            </a:avLst>
          </a:prstGeom>
          <a:solidFill>
            <a:srgbClr val="7B6FA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spc="4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캡스톤디자인(1) 2차 발표</a:t>
            </a:r>
            <a:endParaRPr lang="en-US" sz="890" dirty="0"/>
          </a:p>
        </p:txBody>
      </p:sp>
      <p:sp>
        <p:nvSpPr>
          <p:cNvPr id="4" name="Text 2"/>
          <p:cNvSpPr/>
          <p:nvPr/>
        </p:nvSpPr>
        <p:spPr>
          <a:xfrm>
            <a:off x="376813" y="638070"/>
            <a:ext cx="8390374" cy="3454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1187"/>
              </a:spcAft>
              <a:buNone/>
            </a:pPr>
            <a:r>
              <a:rPr lang="en-US" sz="188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 및 향후 계획</a:t>
            </a:r>
            <a:endParaRPr lang="en-US" sz="1880" dirty="0"/>
          </a:p>
        </p:txBody>
      </p:sp>
      <p:sp>
        <p:nvSpPr>
          <p:cNvPr id="5" name="Shape 3"/>
          <p:cNvSpPr/>
          <p:nvPr/>
        </p:nvSpPr>
        <p:spPr>
          <a:xfrm>
            <a:off x="376813" y="1134837"/>
            <a:ext cx="4082143" cy="3516923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2080" y="1295608"/>
            <a:ext cx="3711610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2차 발표까지의 성과</a:t>
            </a:r>
            <a:endParaRPr lang="en-US" sz="1090" dirty="0"/>
          </a:p>
        </p:txBody>
      </p:sp>
      <p:sp>
        <p:nvSpPr>
          <p:cNvPr id="7" name="Shape 5"/>
          <p:cNvSpPr/>
          <p:nvPr/>
        </p:nvSpPr>
        <p:spPr>
          <a:xfrm>
            <a:off x="562080" y="1572566"/>
            <a:ext cx="3711610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69913"/>
            <a:ext cx="816429" cy="200967"/>
          </a:xfrm>
          <a:prstGeom prst="roundRect">
            <a:avLst>
              <a:gd name="adj" fmla="val 18750"/>
            </a:avLst>
          </a:prstGeom>
          <a:solidFill>
            <a:srgbClr val="27AE60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Addressable</a:t>
            </a:r>
            <a:endParaRPr lang="en-US" sz="690" dirty="0"/>
          </a:p>
        </p:txBody>
      </p:sp>
      <p:sp>
        <p:nvSpPr>
          <p:cNvPr id="9" name="Text 7"/>
          <p:cNvSpPr/>
          <p:nvPr/>
        </p:nvSpPr>
        <p:spPr>
          <a:xfrm>
            <a:off x="1601456" y="1695034"/>
            <a:ext cx="2549769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매니저가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 로드 패턴 통일</a:t>
            </a:r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콘텐츠 확장성 확보</a:t>
            </a:r>
            <a:endParaRPr lang="en-US" sz="790" dirty="0"/>
          </a:p>
        </p:txBody>
      </p:sp>
      <p:sp>
        <p:nvSpPr>
          <p:cNvPr id="10" name="Shape 8"/>
          <p:cNvSpPr/>
          <p:nvPr/>
        </p:nvSpPr>
        <p:spPr>
          <a:xfrm>
            <a:off x="562080" y="2032279"/>
            <a:ext cx="3711610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29626"/>
            <a:ext cx="816429" cy="200967"/>
          </a:xfrm>
          <a:prstGeom prst="roundRect">
            <a:avLst>
              <a:gd name="adj" fmla="val 18750"/>
            </a:avLst>
          </a:prstGeom>
          <a:solidFill>
            <a:srgbClr val="3498DB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System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1601456" y="2154747"/>
            <a:ext cx="2549769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JSON·SO 분리 +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mapId 조인</a:t>
            </a:r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작업 분업 가능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562080" y="2491992"/>
            <a:ext cx="3711610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89333"/>
            <a:ext cx="816429" cy="200967"/>
          </a:xfrm>
          <a:prstGeom prst="roundRect">
            <a:avLst>
              <a:gd name="adj" fmla="val 1875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 모듈화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1601456" y="2614454"/>
            <a:ext cx="2549769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비트 플래그 + Factory</a:t>
            </a:r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새 적 = 태그 조합으로 끝</a:t>
            </a:r>
            <a:endParaRPr lang="en-US" sz="790" dirty="0"/>
          </a:p>
        </p:txBody>
      </p:sp>
      <p:sp>
        <p:nvSpPr>
          <p:cNvPr id="16" name="Shape 14"/>
          <p:cNvSpPr/>
          <p:nvPr/>
        </p:nvSpPr>
        <p:spPr>
          <a:xfrm>
            <a:off x="562080" y="2951706"/>
            <a:ext cx="3711610" cy="395654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49047"/>
            <a:ext cx="816429" cy="200967"/>
          </a:xfrm>
          <a:prstGeom prst="roundRect">
            <a:avLst>
              <a:gd name="adj" fmla="val 18750"/>
            </a:avLst>
          </a:prstGeom>
          <a:solidFill>
            <a:srgbClr val="9B59B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FSM</a:t>
            </a: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1601456" y="3074168"/>
            <a:ext cx="2549769" cy="15072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EnemyBrain SO</a:t>
            </a:r>
            <a:pPr algn="l" indent="0" marL="0">
              <a:lnSpc>
                <a:spcPts val="1187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행동 패턴을 </a:t>
            </a:r>
            <a:pPr algn="l" indent="0" marL="0">
              <a:lnSpc>
                <a:spcPts val="1187"/>
              </a:lnSpc>
              <a:buNone/>
            </a:pPr>
            <a:r>
              <a:rPr lang="en-US" sz="790" b="1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데이터화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562080" y="3437168"/>
            <a:ext cx="3711610" cy="314011"/>
          </a:xfrm>
          <a:prstGeom prst="roundRect">
            <a:avLst>
              <a:gd name="adj" fmla="val 12000"/>
            </a:avLst>
          </a:prstGeom>
          <a:solidFill>
            <a:srgbClr val="F4E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00244" y="3512531"/>
            <a:ext cx="3460401" cy="16328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키워드: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"코드 수정·재빌드 없이 콘텐츠 확장"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4685044" y="1134837"/>
            <a:ext cx="4082143" cy="3516923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0048">
            <a:solidFill>
              <a:srgbClr val="D0C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0310" y="1295608"/>
            <a:ext cx="3711610" cy="20096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593"/>
              </a:spcAft>
              <a:buNone/>
            </a:pPr>
            <a:r>
              <a:rPr lang="en-US" sz="10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🚀 남은 작업 (2차 → 시연)</a:t>
            </a:r>
            <a:endParaRPr lang="en-US" sz="1090" dirty="0"/>
          </a:p>
        </p:txBody>
      </p:sp>
      <p:sp>
        <p:nvSpPr>
          <p:cNvPr id="23" name="Text 21"/>
          <p:cNvSpPr/>
          <p:nvPr/>
        </p:nvSpPr>
        <p:spPr>
          <a:xfrm>
            <a:off x="4870938" y="1571938"/>
            <a:ext cx="226088" cy="226088"/>
          </a:xfrm>
          <a:prstGeom prst="ellipse">
            <a:avLst/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5171369" y="1600199"/>
            <a:ext cx="2449286" cy="16956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35"/>
              </a:lnSpc>
              <a:buNone/>
            </a:pPr>
            <a:r>
              <a:rPr lang="en-US" sz="8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로비 시스템</a:t>
            </a:r>
            <a:pPr algn="l" indent="0" marL="0">
              <a:lnSpc>
                <a:spcPts val="1335"/>
              </a:lnSpc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무기·보호구·신발 3종 + 레벨업</a:t>
            </a:r>
            <a:endParaRPr lang="en-US" sz="890" dirty="0"/>
          </a:p>
        </p:txBody>
      </p:sp>
      <p:sp>
        <p:nvSpPr>
          <p:cNvPr id="25" name="Text 23"/>
          <p:cNvSpPr/>
          <p:nvPr/>
        </p:nvSpPr>
        <p:spPr>
          <a:xfrm>
            <a:off x="4870938" y="1885949"/>
            <a:ext cx="226088" cy="226088"/>
          </a:xfrm>
          <a:prstGeom prst="ellipse">
            <a:avLst/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90" dirty="0"/>
          </a:p>
        </p:txBody>
      </p:sp>
      <p:sp>
        <p:nvSpPr>
          <p:cNvPr id="26" name="Text 24"/>
          <p:cNvSpPr/>
          <p:nvPr/>
        </p:nvSpPr>
        <p:spPr>
          <a:xfrm>
            <a:off x="5171251" y="1914210"/>
            <a:ext cx="2292280" cy="16956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35"/>
              </a:lnSpc>
              <a:buNone/>
            </a:pPr>
            <a:r>
              <a:rPr lang="en-US" sz="8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스킬 시스템 확장</a:t>
            </a:r>
            <a:pPr algn="l" indent="0" marL="0">
              <a:lnSpc>
                <a:spcPts val="1335"/>
              </a:lnSpc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배럴·오브 등 공격 유형 추가</a:t>
            </a:r>
            <a:endParaRPr lang="en-US" sz="890" dirty="0"/>
          </a:p>
        </p:txBody>
      </p:sp>
      <p:sp>
        <p:nvSpPr>
          <p:cNvPr id="27" name="Text 25"/>
          <p:cNvSpPr/>
          <p:nvPr/>
        </p:nvSpPr>
        <p:spPr>
          <a:xfrm>
            <a:off x="4870938" y="2199960"/>
            <a:ext cx="226088" cy="226088"/>
          </a:xfrm>
          <a:prstGeom prst="ellipse">
            <a:avLst/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90" dirty="0"/>
          </a:p>
        </p:txBody>
      </p:sp>
      <p:sp>
        <p:nvSpPr>
          <p:cNvPr id="28" name="Text 26"/>
          <p:cNvSpPr/>
          <p:nvPr/>
        </p:nvSpPr>
        <p:spPr>
          <a:xfrm>
            <a:off x="5170976" y="2228221"/>
            <a:ext cx="2449286" cy="16956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35"/>
              </a:lnSpc>
              <a:buNone/>
            </a:pPr>
            <a:r>
              <a:rPr lang="en-US" sz="8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맵 콘텐츠</a:t>
            </a:r>
            <a:pPr algn="l" indent="0" marL="0">
              <a:lnSpc>
                <a:spcPts val="1335"/>
              </a:lnSpc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10스테이지 주기 보스 + 특수 패턴</a:t>
            </a:r>
            <a:endParaRPr lang="en-US" sz="890" dirty="0"/>
          </a:p>
        </p:txBody>
      </p:sp>
      <p:sp>
        <p:nvSpPr>
          <p:cNvPr id="29" name="Text 27"/>
          <p:cNvSpPr/>
          <p:nvPr/>
        </p:nvSpPr>
        <p:spPr>
          <a:xfrm>
            <a:off x="4870938" y="2513971"/>
            <a:ext cx="226088" cy="226088"/>
          </a:xfrm>
          <a:prstGeom prst="ellipse">
            <a:avLst/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90" dirty="0"/>
          </a:p>
        </p:txBody>
      </p:sp>
      <p:sp>
        <p:nvSpPr>
          <p:cNvPr id="30" name="Text 28"/>
          <p:cNvSpPr/>
          <p:nvPr/>
        </p:nvSpPr>
        <p:spPr>
          <a:xfrm>
            <a:off x="5173096" y="2542232"/>
            <a:ext cx="1971989" cy="16956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35"/>
              </a:lnSpc>
              <a:buNone/>
            </a:pPr>
            <a:r>
              <a:rPr lang="en-US" sz="8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밸런싱·QA</a:t>
            </a:r>
            <a:pPr algn="l" indent="0" marL="0">
              <a:lnSpc>
                <a:spcPts val="1335"/>
              </a:lnSpc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맵 배율·스테이지 배율 튜닝</a:t>
            </a:r>
            <a:endParaRPr lang="en-US" sz="890" dirty="0"/>
          </a:p>
        </p:txBody>
      </p:sp>
      <p:sp>
        <p:nvSpPr>
          <p:cNvPr id="31" name="Text 29"/>
          <p:cNvSpPr/>
          <p:nvPr/>
        </p:nvSpPr>
        <p:spPr>
          <a:xfrm>
            <a:off x="4870938" y="2827982"/>
            <a:ext cx="226088" cy="226088"/>
          </a:xfrm>
          <a:prstGeom prst="ellipse">
            <a:avLst/>
          </a:prstGeom>
          <a:solidFill>
            <a:srgbClr val="5B4F8A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890" dirty="0"/>
          </a:p>
        </p:txBody>
      </p:sp>
      <p:sp>
        <p:nvSpPr>
          <p:cNvPr id="32" name="Text 30"/>
          <p:cNvSpPr/>
          <p:nvPr/>
        </p:nvSpPr>
        <p:spPr>
          <a:xfrm>
            <a:off x="5173684" y="2856243"/>
            <a:ext cx="2424165" cy="16956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35"/>
              </a:lnSpc>
              <a:buNone/>
            </a:pPr>
            <a:r>
              <a:rPr lang="en-US" sz="8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리모트 콘텐츠 패치 검증</a:t>
            </a:r>
            <a:pPr algn="l" indent="0" marL="0">
              <a:lnSpc>
                <a:spcPts val="1335"/>
              </a:lnSpc>
              <a:buNone/>
            </a:pPr>
            <a:r>
              <a:rPr lang="en-US" sz="8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Addressable 빌드 분리</a:t>
            </a:r>
            <a:endParaRPr lang="en-US" sz="890" dirty="0"/>
          </a:p>
        </p:txBody>
      </p:sp>
      <p:sp>
        <p:nvSpPr>
          <p:cNvPr id="33" name="Shape 31"/>
          <p:cNvSpPr/>
          <p:nvPr/>
        </p:nvSpPr>
        <p:spPr>
          <a:xfrm>
            <a:off x="4870310" y="3143249"/>
            <a:ext cx="3711610" cy="314011"/>
          </a:xfrm>
          <a:prstGeom prst="roundRect">
            <a:avLst>
              <a:gd name="adj" fmla="val 12000"/>
            </a:avLst>
          </a:prstGeom>
          <a:solidFill>
            <a:srgbClr val="F4E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08475" y="3218611"/>
            <a:ext cx="3460401" cy="16328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최종 시연: </a:t>
            </a:r>
            <a:pPr algn="l" indent="0" marL="0">
              <a:lnSpc>
                <a:spcPts val="1305"/>
              </a:lnSpc>
              <a:buNone/>
            </a:pPr>
            <a:r>
              <a:rPr lang="en-US" sz="790" b="1" dirty="0">
                <a:solidFill>
                  <a:srgbClr val="5B4F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"새 빌드 없이 적·맵·스킬 추가"</a:t>
            </a:r>
            <a:pPr algn="l" indent="0" marL="0">
              <a:lnSpc>
                <a:spcPts val="1305"/>
              </a:lnSpc>
              <a:buNone/>
            </a:pPr>
            <a:r>
              <a:rPr lang="en-US" sz="790" dirty="0">
                <a:solidFill>
                  <a:srgbClr val="3A3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실제 라이브 데모로 시연 예정</a:t>
            </a:r>
            <a:endParaRPr lang="en-US" sz="79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080" y="3437168"/>
            <a:ext cx="3711610" cy="314011"/>
          </a:xfrm>
          <a:prstGeom prst="rect">
            <a:avLst/>
          </a:prstGeom>
        </p:spPr>
      </p:pic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0310" y="3143249"/>
            <a:ext cx="3711610" cy="3140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20"/>
            <a:ext cx="9144000" cy="5124659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3" name="Text 1"/>
          <p:cNvSpPr/>
          <p:nvPr/>
        </p:nvSpPr>
        <p:spPr>
          <a:xfrm>
            <a:off x="251209" y="197827"/>
            <a:ext cx="8641582" cy="314011"/>
          </a:xfrm>
          <a:prstGeom prst="roundRect">
            <a:avLst>
              <a:gd name="adj" fmla="val 16000"/>
            </a:avLst>
          </a:prstGeom>
          <a:solidFill>
            <a:srgbClr val="7B6FA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90" b="1" spc="4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캡스톤디자인(1) 2차 발표</a:t>
            </a:r>
            <a:endParaRPr lang="en-US" sz="890" dirty="0"/>
          </a:p>
        </p:txBody>
      </p:sp>
      <p:sp>
        <p:nvSpPr>
          <p:cNvPr id="4" name="Text 2"/>
          <p:cNvSpPr/>
          <p:nvPr/>
        </p:nvSpPr>
        <p:spPr>
          <a:xfrm>
            <a:off x="0" y="1893486"/>
            <a:ext cx="9144000" cy="65314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spcBef>
                <a:spcPts val="14835"/>
              </a:spcBef>
              <a:buNone/>
            </a:pPr>
            <a:r>
              <a:rPr lang="en-US" sz="3560" b="1" dirty="0">
                <a:solidFill>
                  <a:srgbClr val="B0A8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35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2026-04-29T05:54:40Z</dcterms:created>
  <dcterms:modified xsi:type="dcterms:W3CDTF">2026-04-29T05:54:40Z</dcterms:modified>
</cp:coreProperties>
</file>